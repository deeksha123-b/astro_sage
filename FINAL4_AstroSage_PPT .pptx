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8.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0.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1.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2.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3.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82" r:id="rId5"/>
    <p:sldId id="262" r:id="rId6"/>
    <p:sldId id="274" r:id="rId7"/>
    <p:sldId id="275" r:id="rId8"/>
    <p:sldId id="276" r:id="rId9"/>
    <p:sldId id="277" r:id="rId10"/>
    <p:sldId id="278" r:id="rId11"/>
    <p:sldId id="279" r:id="rId12"/>
    <p:sldId id="280" r:id="rId13"/>
    <p:sldId id="281" r:id="rId14"/>
    <p:sldId id="271" r:id="rId15"/>
    <p:sldId id="265" r:id="rId16"/>
    <p:sldId id="266" r:id="rId17"/>
    <p:sldId id="270" r:id="rId18"/>
    <p:sldId id="264" r:id="rId19"/>
    <p:sldId id="272" r:id="rId20"/>
    <p:sldId id="268"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DEEKSHA\Downloads\NewExcel1_Astrosag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rohit\OneDrive\Desktop\Downloads\Final_NewExcel2_Astrosag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rohit\OneDrive\Desktop\Downloads\Final_NewExcel2_Astrosage.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rohit\OneDrive\Desktop\Downloads\Final_NewExcel2_Astrosag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09e9ea600f0b868c/Final3_NewExcel3_Astrosage.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rohit\OneDrive\Desktop\Downloads\Final_NewExcel2_Astrosage.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rohit\OneDrive\Desktop\Downloads\Final_NewExcel2_Astrosage.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rohit\OneDrive\Desktop\Downloads\Final_NewExcel2_Astrosage.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rohit\OneDrive\Desktop\Downloads\Final_NewExcel2_Astrosage.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[NewExcel1_Astrosage.xlsx]Q-4 I Objective!PivotTable7</c:name>
    <c:fmtId val="16"/>
  </c:pivotSource>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IN" dirty="0"/>
              <a:t>Daily Call Volume Trend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'Q-4 I Objective'!$C$8</c:f>
              <c:strCache>
                <c:ptCount val="1"/>
                <c:pt idx="0">
                  <c:v>Total</c:v>
                </c:pt>
              </c:strCache>
            </c:strRef>
          </c:tx>
          <c:spPr>
            <a:ln w="28575" cap="rnd">
              <a:solidFill>
                <a:schemeClr val="accent1"/>
              </a:solidFill>
              <a:round/>
            </a:ln>
            <a:effectLst/>
          </c:spPr>
          <c:marker>
            <c:symbol val="none"/>
          </c:marker>
          <c:cat>
            <c:strRef>
              <c:f>'Q-4 I Objective'!$B$9:$B$43</c:f>
              <c:strCache>
                <c:ptCount val="34"/>
                <c:pt idx="0">
                  <c:v>01-12-2023</c:v>
                </c:pt>
                <c:pt idx="1">
                  <c:v>02-12-2023</c:v>
                </c:pt>
                <c:pt idx="2">
                  <c:v>03-12-2023</c:v>
                </c:pt>
                <c:pt idx="3">
                  <c:v>04-12-2023</c:v>
                </c:pt>
                <c:pt idx="4">
                  <c:v>05-12-2023</c:v>
                </c:pt>
                <c:pt idx="5">
                  <c:v>06-12-2023</c:v>
                </c:pt>
                <c:pt idx="6">
                  <c:v>07-12-2023</c:v>
                </c:pt>
                <c:pt idx="7">
                  <c:v>08-12-2023</c:v>
                </c:pt>
                <c:pt idx="8">
                  <c:v>09-12-2023</c:v>
                </c:pt>
                <c:pt idx="9">
                  <c:v>10-12-2023</c:v>
                </c:pt>
                <c:pt idx="10">
                  <c:v>11-12-2023</c:v>
                </c:pt>
                <c:pt idx="11">
                  <c:v>12-12-2023</c:v>
                </c:pt>
                <c:pt idx="12">
                  <c:v>13-12-2023</c:v>
                </c:pt>
                <c:pt idx="13">
                  <c:v>14-12-2023</c:v>
                </c:pt>
                <c:pt idx="14">
                  <c:v>15-12-2023</c:v>
                </c:pt>
                <c:pt idx="15">
                  <c:v>16-12-2023</c:v>
                </c:pt>
                <c:pt idx="16">
                  <c:v>17-12-2023</c:v>
                </c:pt>
                <c:pt idx="17">
                  <c:v>18-12-2023</c:v>
                </c:pt>
                <c:pt idx="18">
                  <c:v>19-12-2023</c:v>
                </c:pt>
                <c:pt idx="19">
                  <c:v>20-12-2023</c:v>
                </c:pt>
                <c:pt idx="20">
                  <c:v>21-12-2023</c:v>
                </c:pt>
                <c:pt idx="21">
                  <c:v>22-12-2023</c:v>
                </c:pt>
                <c:pt idx="22">
                  <c:v>23-12-2023</c:v>
                </c:pt>
                <c:pt idx="23">
                  <c:v>24-12-2023</c:v>
                </c:pt>
                <c:pt idx="24">
                  <c:v>25-12-2023</c:v>
                </c:pt>
                <c:pt idx="25">
                  <c:v>26-12-2023</c:v>
                </c:pt>
                <c:pt idx="26">
                  <c:v>27-12-2023</c:v>
                </c:pt>
                <c:pt idx="27">
                  <c:v>28-12-2023</c:v>
                </c:pt>
                <c:pt idx="28">
                  <c:v>29-12-2023</c:v>
                </c:pt>
                <c:pt idx="29">
                  <c:v>30-12-2023</c:v>
                </c:pt>
                <c:pt idx="30">
                  <c:v>31-12-2023</c:v>
                </c:pt>
                <c:pt idx="31">
                  <c:v>01-01-2024</c:v>
                </c:pt>
                <c:pt idx="32">
                  <c:v>02-01-2024</c:v>
                </c:pt>
                <c:pt idx="33">
                  <c:v>03-01-2024</c:v>
                </c:pt>
              </c:strCache>
            </c:strRef>
          </c:cat>
          <c:val>
            <c:numRef>
              <c:f>'Q-4 I Objective'!$C$9:$C$43</c:f>
              <c:numCache>
                <c:formatCode>General</c:formatCode>
                <c:ptCount val="34"/>
                <c:pt idx="0">
                  <c:v>1056</c:v>
                </c:pt>
                <c:pt idx="1">
                  <c:v>1006</c:v>
                </c:pt>
                <c:pt idx="2">
                  <c:v>994</c:v>
                </c:pt>
                <c:pt idx="3">
                  <c:v>931</c:v>
                </c:pt>
                <c:pt idx="4">
                  <c:v>715</c:v>
                </c:pt>
                <c:pt idx="5">
                  <c:v>523</c:v>
                </c:pt>
                <c:pt idx="6">
                  <c:v>531</c:v>
                </c:pt>
                <c:pt idx="7">
                  <c:v>338</c:v>
                </c:pt>
                <c:pt idx="8">
                  <c:v>438</c:v>
                </c:pt>
                <c:pt idx="9">
                  <c:v>594</c:v>
                </c:pt>
                <c:pt idx="10">
                  <c:v>582</c:v>
                </c:pt>
                <c:pt idx="11">
                  <c:v>554</c:v>
                </c:pt>
                <c:pt idx="12">
                  <c:v>618</c:v>
                </c:pt>
                <c:pt idx="13">
                  <c:v>917</c:v>
                </c:pt>
                <c:pt idx="14">
                  <c:v>1324</c:v>
                </c:pt>
                <c:pt idx="15">
                  <c:v>952</c:v>
                </c:pt>
                <c:pt idx="16">
                  <c:v>929</c:v>
                </c:pt>
                <c:pt idx="17">
                  <c:v>1074</c:v>
                </c:pt>
                <c:pt idx="18">
                  <c:v>1046</c:v>
                </c:pt>
                <c:pt idx="19">
                  <c:v>855</c:v>
                </c:pt>
                <c:pt idx="20">
                  <c:v>816</c:v>
                </c:pt>
                <c:pt idx="21">
                  <c:v>775</c:v>
                </c:pt>
                <c:pt idx="22">
                  <c:v>1059</c:v>
                </c:pt>
                <c:pt idx="23">
                  <c:v>1061</c:v>
                </c:pt>
                <c:pt idx="24">
                  <c:v>1098</c:v>
                </c:pt>
                <c:pt idx="25">
                  <c:v>808</c:v>
                </c:pt>
                <c:pt idx="26">
                  <c:v>1001</c:v>
                </c:pt>
                <c:pt idx="27">
                  <c:v>1077</c:v>
                </c:pt>
                <c:pt idx="28">
                  <c:v>1022</c:v>
                </c:pt>
                <c:pt idx="29">
                  <c:v>778</c:v>
                </c:pt>
                <c:pt idx="30">
                  <c:v>1014</c:v>
                </c:pt>
                <c:pt idx="31">
                  <c:v>325</c:v>
                </c:pt>
                <c:pt idx="32">
                  <c:v>845</c:v>
                </c:pt>
                <c:pt idx="33">
                  <c:v>369</c:v>
                </c:pt>
              </c:numCache>
            </c:numRef>
          </c:val>
          <c:smooth val="0"/>
          <c:extLst>
            <c:ext xmlns:c16="http://schemas.microsoft.com/office/drawing/2014/chart" uri="{C3380CC4-5D6E-409C-BE32-E72D297353CC}">
              <c16:uniqueId val="{00000000-32CA-4A83-BB2D-4CAD144ECDF2}"/>
            </c:ext>
          </c:extLst>
        </c:ser>
        <c:dLbls>
          <c:showLegendKey val="0"/>
          <c:showVal val="0"/>
          <c:showCatName val="0"/>
          <c:showSerName val="0"/>
          <c:showPercent val="0"/>
          <c:showBubbleSize val="0"/>
        </c:dLbls>
        <c:smooth val="0"/>
        <c:axId val="981065824"/>
        <c:axId val="981066304"/>
      </c:lineChart>
      <c:catAx>
        <c:axId val="9810658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981066304"/>
        <c:crosses val="autoZero"/>
        <c:auto val="1"/>
        <c:lblAlgn val="ctr"/>
        <c:lblOffset val="100"/>
        <c:noMultiLvlLbl val="0"/>
      </c:catAx>
      <c:valAx>
        <c:axId val="98106630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9810658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[Final_NewExcel2_Astrosage.xlsx]Dashboard!PivotTable10</c:name>
    <c:fmtId val="4"/>
  </c:pivotSource>
  <c:chart>
    <c:title>
      <c:tx>
        <c:rich>
          <a:bodyPr rot="0" spcFirstLastPara="1" vertOverflow="ellipsis" vert="horz" wrap="square" anchor="ctr" anchorCtr="1"/>
          <a:lstStyle/>
          <a:p>
            <a:pPr algn="ctr" rtl="0">
              <a:defRPr sz="1400" b="0" i="0" u="none" strike="noStrike" kern="1200" spc="0" baseline="0">
                <a:solidFill>
                  <a:schemeClr val="bg1"/>
                </a:solidFill>
                <a:latin typeface="+mn-lt"/>
                <a:ea typeface="+mn-ea"/>
                <a:cs typeface="+mn-cs"/>
              </a:defRPr>
            </a:pPr>
            <a:r>
              <a:rPr lang="en-US"/>
              <a:t>Average Customer Satisfaction Score by Month</a:t>
            </a:r>
          </a:p>
        </c:rich>
      </c:tx>
      <c:overlay val="0"/>
      <c:spPr>
        <a:noFill/>
        <a:ln>
          <a:noFill/>
        </a:ln>
        <a:effectLst/>
      </c:spPr>
      <c:txPr>
        <a:bodyPr rot="0" spcFirstLastPara="1" vertOverflow="ellipsis" vert="horz" wrap="square" anchor="ctr" anchorCtr="1"/>
        <a:lstStyle/>
        <a:p>
          <a:pPr algn="ctr" rtl="0">
            <a:defRPr sz="1400" b="0" i="0" u="none" strike="noStrike" kern="1200" spc="0" baseline="0">
              <a:solidFill>
                <a:schemeClr val="bg1"/>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Dashboard!$ES$48</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Dashboard!$ER$49:$ER$51</c:f>
              <c:strCache>
                <c:ptCount val="2"/>
                <c:pt idx="0">
                  <c:v>January</c:v>
                </c:pt>
                <c:pt idx="1">
                  <c:v>December</c:v>
                </c:pt>
              </c:strCache>
            </c:strRef>
          </c:cat>
          <c:val>
            <c:numRef>
              <c:f>Dashboard!$ES$49:$ES$51</c:f>
              <c:numCache>
                <c:formatCode>General</c:formatCode>
                <c:ptCount val="2"/>
                <c:pt idx="0">
                  <c:v>2.6764132553606239</c:v>
                </c:pt>
                <c:pt idx="1">
                  <c:v>2.9495864959782487</c:v>
                </c:pt>
              </c:numCache>
            </c:numRef>
          </c:val>
          <c:extLst>
            <c:ext xmlns:c16="http://schemas.microsoft.com/office/drawing/2014/chart" uri="{C3380CC4-5D6E-409C-BE32-E72D297353CC}">
              <c16:uniqueId val="{00000000-B166-4A73-B97C-9761FFE167A5}"/>
            </c:ext>
          </c:extLst>
        </c:ser>
        <c:dLbls>
          <c:dLblPos val="outEnd"/>
          <c:showLegendKey val="0"/>
          <c:showVal val="1"/>
          <c:showCatName val="0"/>
          <c:showSerName val="0"/>
          <c:showPercent val="0"/>
          <c:showBubbleSize val="0"/>
        </c:dLbls>
        <c:gapWidth val="219"/>
        <c:overlap val="-27"/>
        <c:axId val="1602565167"/>
        <c:axId val="1602560847"/>
      </c:barChart>
      <c:catAx>
        <c:axId val="16025651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602560847"/>
        <c:crosses val="autoZero"/>
        <c:auto val="1"/>
        <c:lblAlgn val="ctr"/>
        <c:lblOffset val="100"/>
        <c:noMultiLvlLbl val="0"/>
      </c:catAx>
      <c:valAx>
        <c:axId val="160256084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60256516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[Final_NewExcel2_Astrosage.xlsx]Q-4 I Subjective!PivotTable1</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solidFill>
                  <a:schemeClr val="bg2"/>
                </a:solidFill>
              </a:rPr>
              <a:t>Hourly Call Volume Analysis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8482796117232943E-2"/>
          <c:y val="0.13197964582165986"/>
          <c:w val="0.86877803452494218"/>
          <c:h val="0.77324524877658141"/>
        </c:manualLayout>
      </c:layout>
      <c:lineChart>
        <c:grouping val="standard"/>
        <c:varyColors val="0"/>
        <c:ser>
          <c:idx val="0"/>
          <c:order val="0"/>
          <c:tx>
            <c:strRef>
              <c:f>'Q-4 I Subjective'!$O$21</c:f>
              <c:strCache>
                <c:ptCount val="1"/>
                <c:pt idx="0">
                  <c:v>Total</c:v>
                </c:pt>
              </c:strCache>
            </c:strRef>
          </c:tx>
          <c:spPr>
            <a:ln w="28575" cap="rnd">
              <a:solidFill>
                <a:schemeClr val="accent1"/>
              </a:solidFill>
              <a:round/>
            </a:ln>
            <a:effectLst/>
          </c:spPr>
          <c:marker>
            <c:symbol val="none"/>
          </c:marker>
          <c:cat>
            <c:strRef>
              <c:f>'Q-4 I Subjective'!$N$22:$N$46</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'Q-4 I Subjective'!$O$22:$O$46</c:f>
              <c:numCache>
                <c:formatCode>General</c:formatCode>
                <c:ptCount val="24"/>
                <c:pt idx="0">
                  <c:v>226</c:v>
                </c:pt>
                <c:pt idx="1">
                  <c:v>304</c:v>
                </c:pt>
                <c:pt idx="2">
                  <c:v>560</c:v>
                </c:pt>
                <c:pt idx="3">
                  <c:v>856</c:v>
                </c:pt>
                <c:pt idx="4">
                  <c:v>1153</c:v>
                </c:pt>
                <c:pt idx="5">
                  <c:v>1438</c:v>
                </c:pt>
                <c:pt idx="6">
                  <c:v>1854</c:v>
                </c:pt>
                <c:pt idx="7">
                  <c:v>1664</c:v>
                </c:pt>
                <c:pt idx="8">
                  <c:v>1874</c:v>
                </c:pt>
                <c:pt idx="9">
                  <c:v>1673</c:v>
                </c:pt>
                <c:pt idx="10">
                  <c:v>1704</c:v>
                </c:pt>
                <c:pt idx="11">
                  <c:v>1470</c:v>
                </c:pt>
                <c:pt idx="12">
                  <c:v>1591</c:v>
                </c:pt>
                <c:pt idx="13">
                  <c:v>1574</c:v>
                </c:pt>
                <c:pt idx="14">
                  <c:v>1673</c:v>
                </c:pt>
                <c:pt idx="15">
                  <c:v>1747</c:v>
                </c:pt>
                <c:pt idx="16">
                  <c:v>1773</c:v>
                </c:pt>
                <c:pt idx="17">
                  <c:v>1443</c:v>
                </c:pt>
                <c:pt idx="18">
                  <c:v>1097</c:v>
                </c:pt>
                <c:pt idx="19">
                  <c:v>911</c:v>
                </c:pt>
                <c:pt idx="20">
                  <c:v>553</c:v>
                </c:pt>
                <c:pt idx="21">
                  <c:v>347</c:v>
                </c:pt>
                <c:pt idx="22">
                  <c:v>268</c:v>
                </c:pt>
                <c:pt idx="23">
                  <c:v>267</c:v>
                </c:pt>
              </c:numCache>
            </c:numRef>
          </c:val>
          <c:smooth val="0"/>
          <c:extLst>
            <c:ext xmlns:c16="http://schemas.microsoft.com/office/drawing/2014/chart" uri="{C3380CC4-5D6E-409C-BE32-E72D297353CC}">
              <c16:uniqueId val="{00000000-6FF3-4044-B688-32EF45F62A28}"/>
            </c:ext>
          </c:extLst>
        </c:ser>
        <c:dLbls>
          <c:showLegendKey val="0"/>
          <c:showVal val="0"/>
          <c:showCatName val="0"/>
          <c:showSerName val="0"/>
          <c:showPercent val="0"/>
          <c:showBubbleSize val="0"/>
        </c:dLbls>
        <c:smooth val="0"/>
        <c:axId val="1128980640"/>
        <c:axId val="1128983040"/>
      </c:lineChart>
      <c:catAx>
        <c:axId val="1128980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28983040"/>
        <c:crosses val="autoZero"/>
        <c:auto val="1"/>
        <c:lblAlgn val="ctr"/>
        <c:lblOffset val="100"/>
        <c:noMultiLvlLbl val="0"/>
      </c:catAx>
      <c:valAx>
        <c:axId val="11289830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289806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[Final_NewExcel2_Astrosage.xlsx]Dashboard!PivotTable9</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bg2"/>
                </a:solidFill>
              </a:rPr>
              <a:t>Top 10 Gurus</a:t>
            </a:r>
            <a:endParaRPr lang="en-US" dirty="0">
              <a:solidFill>
                <a:schemeClr val="bg2"/>
              </a:solidFill>
            </a:endParaRPr>
          </a:p>
        </c:rich>
      </c:tx>
      <c:layout>
        <c:manualLayout>
          <c:xMode val="edge"/>
          <c:yMode val="edge"/>
          <c:x val="0.39434533292192525"/>
          <c:y val="3.572465984424136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Dashboard!$ES$34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Dashboard!$ER$35:$ER$45</c:f>
              <c:strCache>
                <c:ptCount val="10"/>
                <c:pt idx="0">
                  <c:v>287</c:v>
                </c:pt>
                <c:pt idx="1">
                  <c:v>239</c:v>
                </c:pt>
                <c:pt idx="2">
                  <c:v>281</c:v>
                </c:pt>
                <c:pt idx="3">
                  <c:v>256</c:v>
                </c:pt>
                <c:pt idx="4">
                  <c:v>235</c:v>
                </c:pt>
                <c:pt idx="5">
                  <c:v>257</c:v>
                </c:pt>
                <c:pt idx="6">
                  <c:v>19</c:v>
                </c:pt>
                <c:pt idx="7">
                  <c:v>75</c:v>
                </c:pt>
                <c:pt idx="8">
                  <c:v>271</c:v>
                </c:pt>
                <c:pt idx="9">
                  <c:v>87</c:v>
                </c:pt>
              </c:strCache>
            </c:strRef>
          </c:cat>
          <c:val>
            <c:numRef>
              <c:f>Dashboard!$ES$35:$ES$45</c:f>
              <c:numCache>
                <c:formatCode>General</c:formatCode>
                <c:ptCount val="10"/>
                <c:pt idx="0">
                  <c:v>1580</c:v>
                </c:pt>
                <c:pt idx="1">
                  <c:v>1450</c:v>
                </c:pt>
                <c:pt idx="2">
                  <c:v>1394</c:v>
                </c:pt>
                <c:pt idx="3">
                  <c:v>1321</c:v>
                </c:pt>
                <c:pt idx="4">
                  <c:v>1070</c:v>
                </c:pt>
                <c:pt idx="5">
                  <c:v>1056</c:v>
                </c:pt>
                <c:pt idx="6">
                  <c:v>967</c:v>
                </c:pt>
                <c:pt idx="7">
                  <c:v>777</c:v>
                </c:pt>
                <c:pt idx="8">
                  <c:v>752</c:v>
                </c:pt>
                <c:pt idx="9">
                  <c:v>741</c:v>
                </c:pt>
              </c:numCache>
            </c:numRef>
          </c:val>
          <c:extLst>
            <c:ext xmlns:c16="http://schemas.microsoft.com/office/drawing/2014/chart" uri="{C3380CC4-5D6E-409C-BE32-E72D297353CC}">
              <c16:uniqueId val="{00000000-CBD2-4BAB-B4C7-56D8CE564D56}"/>
            </c:ext>
          </c:extLst>
        </c:ser>
        <c:dLbls>
          <c:dLblPos val="outEnd"/>
          <c:showLegendKey val="0"/>
          <c:showVal val="1"/>
          <c:showCatName val="0"/>
          <c:showSerName val="0"/>
          <c:showPercent val="0"/>
          <c:showBubbleSize val="0"/>
        </c:dLbls>
        <c:gapWidth val="182"/>
        <c:axId val="1164682031"/>
        <c:axId val="1164682991"/>
      </c:barChart>
      <c:catAx>
        <c:axId val="116468203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64682991"/>
        <c:crosses val="autoZero"/>
        <c:auto val="1"/>
        <c:lblAlgn val="ctr"/>
        <c:lblOffset val="100"/>
        <c:noMultiLvlLbl val="0"/>
      </c:catAx>
      <c:valAx>
        <c:axId val="116468299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646820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IN" sz="1400" b="0" i="0" u="none" strike="noStrike" baseline="0">
                <a:solidFill>
                  <a:schemeClr val="bg1"/>
                </a:solidFill>
              </a:rPr>
              <a:t>Call Status Distribution</a:t>
            </a:r>
            <a:endParaRPr lang="en-US">
              <a:solidFill>
                <a:schemeClr val="bg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s>
    <c:plotArea>
      <c:layout/>
      <c:pieChart>
        <c:varyColors val="1"/>
        <c:ser>
          <c:idx val="0"/>
          <c:order val="0"/>
          <c:tx>
            <c:v>Total</c:v>
          </c:tx>
          <c:dPt>
            <c:idx val="0"/>
            <c:bubble3D val="0"/>
            <c:spPr>
              <a:solidFill>
                <a:schemeClr val="accent1">
                  <a:lumMod val="20000"/>
                  <a:lumOff val="80000"/>
                </a:schemeClr>
              </a:solidFill>
              <a:ln w="19050">
                <a:solidFill>
                  <a:schemeClr val="lt1"/>
                </a:solidFill>
              </a:ln>
              <a:effectLst/>
            </c:spPr>
            <c:extLst>
              <c:ext xmlns:c16="http://schemas.microsoft.com/office/drawing/2014/chart" uri="{C3380CC4-5D6E-409C-BE32-E72D297353CC}">
                <c16:uniqueId val="{00000001-DB39-4D5B-AA20-6D25BD16FE95}"/>
              </c:ext>
            </c:extLst>
          </c:dPt>
          <c:dPt>
            <c:idx val="1"/>
            <c:bubble3D val="0"/>
            <c:spPr>
              <a:solidFill>
                <a:srgbClr val="6699FF"/>
              </a:solidFill>
              <a:ln w="19050">
                <a:solidFill>
                  <a:schemeClr val="lt1"/>
                </a:solidFill>
              </a:ln>
              <a:effectLst/>
            </c:spPr>
            <c:extLst>
              <c:ext xmlns:c16="http://schemas.microsoft.com/office/drawing/2014/chart" uri="{C3380CC4-5D6E-409C-BE32-E72D297353CC}">
                <c16:uniqueId val="{00000003-DB39-4D5B-AA20-6D25BD16FE95}"/>
              </c:ext>
            </c:extLst>
          </c:dPt>
          <c:dPt>
            <c:idx val="2"/>
            <c:bubble3D val="0"/>
            <c:spPr>
              <a:solidFill>
                <a:schemeClr val="accent1">
                  <a:lumMod val="40000"/>
                  <a:lumOff val="60000"/>
                </a:schemeClr>
              </a:solidFill>
              <a:ln w="19050">
                <a:solidFill>
                  <a:schemeClr val="lt1"/>
                </a:solidFill>
              </a:ln>
              <a:effectLst/>
            </c:spPr>
            <c:extLst>
              <c:ext xmlns:c16="http://schemas.microsoft.com/office/drawing/2014/chart" uri="{C3380CC4-5D6E-409C-BE32-E72D297353CC}">
                <c16:uniqueId val="{00000005-DB39-4D5B-AA20-6D25BD16FE95}"/>
              </c:ext>
            </c:extLst>
          </c:dPt>
          <c:dPt>
            <c:idx val="3"/>
            <c:bubble3D val="0"/>
            <c:spPr>
              <a:solidFill>
                <a:schemeClr val="accent1">
                  <a:lumMod val="20000"/>
                  <a:lumOff val="80000"/>
                </a:schemeClr>
              </a:solidFill>
              <a:ln w="19050">
                <a:solidFill>
                  <a:schemeClr val="lt1"/>
                </a:solidFill>
              </a:ln>
              <a:effectLst/>
            </c:spPr>
            <c:extLst>
              <c:ext xmlns:c16="http://schemas.microsoft.com/office/drawing/2014/chart" uri="{C3380CC4-5D6E-409C-BE32-E72D297353CC}">
                <c16:uniqueId val="{00000007-DB39-4D5B-AA20-6D25BD16FE95}"/>
              </c:ext>
            </c:extLst>
          </c:dPt>
          <c:dPt>
            <c:idx val="4"/>
            <c:bubble3D val="0"/>
            <c:spPr>
              <a:solidFill>
                <a:schemeClr val="accent1">
                  <a:lumMod val="40000"/>
                  <a:lumOff val="60000"/>
                </a:schemeClr>
              </a:solidFill>
              <a:ln w="19050">
                <a:solidFill>
                  <a:schemeClr val="lt1"/>
                </a:solidFill>
              </a:ln>
              <a:effectLst/>
            </c:spPr>
            <c:extLst>
              <c:ext xmlns:c16="http://schemas.microsoft.com/office/drawing/2014/chart" uri="{C3380CC4-5D6E-409C-BE32-E72D297353CC}">
                <c16:uniqueId val="{00000009-DB39-4D5B-AA20-6D25BD16FE9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Lit>
              <c:ptCount val="5"/>
              <c:pt idx="0">
                <c:v>busy</c:v>
              </c:pt>
              <c:pt idx="1">
                <c:v>completed</c:v>
              </c:pt>
              <c:pt idx="2">
                <c:v>failed</c:v>
              </c:pt>
              <c:pt idx="3">
                <c:v>incomplete</c:v>
              </c:pt>
              <c:pt idx="4">
                <c:v>no-answer</c:v>
              </c:pt>
            </c:strLit>
          </c:cat>
          <c:val>
            <c:numLit>
              <c:formatCode>General</c:formatCode>
              <c:ptCount val="5"/>
              <c:pt idx="0">
                <c:v>1270</c:v>
              </c:pt>
              <c:pt idx="1">
                <c:v>3453</c:v>
              </c:pt>
              <c:pt idx="2">
                <c:v>1214</c:v>
              </c:pt>
              <c:pt idx="3">
                <c:v>875</c:v>
              </c:pt>
              <c:pt idx="4">
                <c:v>1729</c:v>
              </c:pt>
            </c:numLit>
          </c:val>
          <c:extLst>
            <c:ext xmlns:c16="http://schemas.microsoft.com/office/drawing/2014/chart" uri="{C3380CC4-5D6E-409C-BE32-E72D297353CC}">
              <c16:uniqueId val="{0000000A-DB39-4D5B-AA20-6D25BD16FE95}"/>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US" dirty="0">
                <a:solidFill>
                  <a:schemeClr val="bg1"/>
                </a:solidFill>
              </a:rPr>
              <a:t>Customer Rating Distribution</a:t>
            </a:r>
          </a:p>
        </c:rich>
      </c:tx>
      <c:layout>
        <c:manualLayout>
          <c:xMode val="edge"/>
          <c:yMode val="edge"/>
          <c:x val="0.34738692189233134"/>
          <c:y val="6.16196575588645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US"/>
        </a:p>
      </c:txPr>
    </c:title>
    <c:autoTitleDeleted val="0"/>
    <c:pivotFmts>
      <c:pivotFmt>
        <c:idx val="0"/>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Total</c:v>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9"/>
              <c:pt idx="0">
                <c:v>0</c:v>
              </c:pt>
              <c:pt idx="1">
                <c:v>1</c:v>
              </c:pt>
              <c:pt idx="2">
                <c:v>2</c:v>
              </c:pt>
              <c:pt idx="3">
                <c:v>3</c:v>
              </c:pt>
              <c:pt idx="4">
                <c:v>4</c:v>
              </c:pt>
              <c:pt idx="5">
                <c:v>5</c:v>
              </c:pt>
              <c:pt idx="6">
                <c:v>6</c:v>
              </c:pt>
              <c:pt idx="7">
                <c:v>7</c:v>
              </c:pt>
              <c:pt idx="8">
                <c:v>8</c:v>
              </c:pt>
            </c:strLit>
          </c:cat>
          <c:val>
            <c:numLit>
              <c:formatCode>General</c:formatCode>
              <c:ptCount val="9"/>
              <c:pt idx="0">
                <c:v>7256</c:v>
              </c:pt>
              <c:pt idx="1">
                <c:v>2199</c:v>
              </c:pt>
              <c:pt idx="2">
                <c:v>4329</c:v>
              </c:pt>
              <c:pt idx="3">
                <c:v>4407</c:v>
              </c:pt>
              <c:pt idx="4">
                <c:v>2132</c:v>
              </c:pt>
              <c:pt idx="5">
                <c:v>2169</c:v>
              </c:pt>
              <c:pt idx="6">
                <c:v>1829</c:v>
              </c:pt>
              <c:pt idx="7">
                <c:v>1824</c:v>
              </c:pt>
              <c:pt idx="8">
                <c:v>1882</c:v>
              </c:pt>
            </c:numLit>
          </c:val>
          <c:extLst>
            <c:ext xmlns:c16="http://schemas.microsoft.com/office/drawing/2014/chart" uri="{C3380CC4-5D6E-409C-BE32-E72D297353CC}">
              <c16:uniqueId val="{00000000-0819-499D-AA1E-D10EF8141491}"/>
            </c:ext>
          </c:extLst>
        </c:ser>
        <c:dLbls>
          <c:dLblPos val="outEnd"/>
          <c:showLegendKey val="0"/>
          <c:showVal val="1"/>
          <c:showCatName val="0"/>
          <c:showSerName val="0"/>
          <c:showPercent val="0"/>
          <c:showBubbleSize val="0"/>
        </c:dLbls>
        <c:gapWidth val="219"/>
        <c:overlap val="-27"/>
        <c:axId val="1133703376"/>
        <c:axId val="1133704336"/>
      </c:barChart>
      <c:catAx>
        <c:axId val="1133703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33704336"/>
        <c:crosses val="autoZero"/>
        <c:auto val="1"/>
        <c:lblAlgn val="ctr"/>
        <c:lblOffset val="100"/>
        <c:noMultiLvlLbl val="0"/>
      </c:catAx>
      <c:valAx>
        <c:axId val="113370433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337033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[Final_NewExcel2_Astrosage.xlsx]Dashboard!PivotTable6</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bg2"/>
                </a:solidFill>
              </a:rPr>
              <a:t>Website Distribution</a:t>
            </a:r>
            <a:endParaRPr lang="en-US" dirty="0">
              <a:solidFill>
                <a:schemeClr val="bg2"/>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lumMod val="75000"/>
            </a:schemeClr>
          </a:solidFill>
          <a:ln w="19050">
            <a:solidFill>
              <a:schemeClr val="lt1"/>
            </a:solidFill>
          </a:ln>
          <a:effectLst/>
        </c:spPr>
      </c:pivotFmt>
      <c:pivotFmt>
        <c:idx val="2"/>
        <c:spPr>
          <a:solidFill>
            <a:schemeClr val="accent6">
              <a:lumMod val="40000"/>
              <a:lumOff val="60000"/>
            </a:schemeClr>
          </a:solidFill>
          <a:ln w="19050">
            <a:solidFill>
              <a:schemeClr val="lt1"/>
            </a:solidFill>
          </a:ln>
          <a:effectLst/>
        </c:spPr>
      </c:pivotFmt>
      <c:pivotFmt>
        <c:idx val="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6">
              <a:lumMod val="40000"/>
              <a:lumOff val="60000"/>
            </a:schemeClr>
          </a:solidFill>
          <a:ln w="19050">
            <a:solidFill>
              <a:schemeClr val="lt1"/>
            </a:solidFill>
          </a:ln>
          <a:effectLst/>
        </c:spPr>
      </c:pivotFmt>
      <c:pivotFmt>
        <c:idx val="5"/>
        <c:spPr>
          <a:solidFill>
            <a:schemeClr val="accent6">
              <a:lumMod val="75000"/>
            </a:schemeClr>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6">
              <a:lumMod val="40000"/>
              <a:lumOff val="60000"/>
            </a:schemeClr>
          </a:solidFill>
          <a:ln w="19050">
            <a:solidFill>
              <a:schemeClr val="lt1"/>
            </a:solidFill>
          </a:ln>
          <a:effectLst/>
        </c:spPr>
      </c:pivotFmt>
      <c:pivotFmt>
        <c:idx val="8"/>
        <c:spPr>
          <a:solidFill>
            <a:schemeClr val="accent6">
              <a:lumMod val="75000"/>
            </a:schemeClr>
          </a:solidFill>
          <a:ln w="19050">
            <a:solidFill>
              <a:schemeClr val="lt1"/>
            </a:solidFill>
          </a:ln>
          <a:effectLst/>
        </c:spPr>
      </c:pivotFmt>
    </c:pivotFmts>
    <c:plotArea>
      <c:layout/>
      <c:pieChart>
        <c:varyColors val="1"/>
        <c:ser>
          <c:idx val="0"/>
          <c:order val="0"/>
          <c:tx>
            <c:strRef>
              <c:f>Dashboard!$ES$9</c:f>
              <c:strCache>
                <c:ptCount val="1"/>
                <c:pt idx="0">
                  <c:v>Total</c:v>
                </c:pt>
              </c:strCache>
            </c:strRef>
          </c:tx>
          <c:dPt>
            <c:idx val="0"/>
            <c:bubble3D val="0"/>
            <c:spPr>
              <a:solidFill>
                <a:schemeClr val="accent6">
                  <a:lumMod val="40000"/>
                  <a:lumOff val="60000"/>
                </a:schemeClr>
              </a:solidFill>
              <a:ln w="19050">
                <a:solidFill>
                  <a:schemeClr val="lt1"/>
                </a:solidFill>
              </a:ln>
              <a:effectLst/>
            </c:spPr>
            <c:extLst>
              <c:ext xmlns:c16="http://schemas.microsoft.com/office/drawing/2014/chart" uri="{C3380CC4-5D6E-409C-BE32-E72D297353CC}">
                <c16:uniqueId val="{00000001-BDD8-4CB6-90F4-22618E66E44E}"/>
              </c:ext>
            </c:extLst>
          </c:dPt>
          <c:dPt>
            <c:idx val="1"/>
            <c:bubble3D val="0"/>
            <c:spPr>
              <a:solidFill>
                <a:schemeClr val="accent6">
                  <a:lumMod val="75000"/>
                </a:schemeClr>
              </a:solidFill>
              <a:ln w="19050">
                <a:solidFill>
                  <a:schemeClr val="lt1"/>
                </a:solidFill>
              </a:ln>
              <a:effectLst/>
            </c:spPr>
            <c:extLst>
              <c:ext xmlns:c16="http://schemas.microsoft.com/office/drawing/2014/chart" uri="{C3380CC4-5D6E-409C-BE32-E72D297353CC}">
                <c16:uniqueId val="{00000003-BDD8-4CB6-90F4-22618E66E44E}"/>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Dashboard!$ER$10:$ER$12</c:f>
              <c:strCache>
                <c:ptCount val="2"/>
                <c:pt idx="0">
                  <c:v>app</c:v>
                </c:pt>
                <c:pt idx="1">
                  <c:v>gurucool</c:v>
                </c:pt>
              </c:strCache>
            </c:strRef>
          </c:cat>
          <c:val>
            <c:numRef>
              <c:f>Dashboard!$ES$10:$ES$12</c:f>
              <c:numCache>
                <c:formatCode>General</c:formatCode>
                <c:ptCount val="2"/>
                <c:pt idx="0">
                  <c:v>7800</c:v>
                </c:pt>
                <c:pt idx="1">
                  <c:v>20220</c:v>
                </c:pt>
              </c:numCache>
            </c:numRef>
          </c:val>
          <c:extLst>
            <c:ext xmlns:c16="http://schemas.microsoft.com/office/drawing/2014/chart" uri="{C3380CC4-5D6E-409C-BE32-E72D297353CC}">
              <c16:uniqueId val="{00000004-BDD8-4CB6-90F4-22618E66E44E}"/>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[Final_NewExcel2_Astrosage.xlsx]Dashboard!PivotTable7</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bg2"/>
                </a:solidFill>
              </a:rPr>
              <a:t>Revenue by Consultation Type</a:t>
            </a:r>
            <a:endParaRPr lang="en-US" dirty="0">
              <a:solidFill>
                <a:schemeClr val="bg2"/>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Dashboard!$ES$15</c:f>
              <c:strCache>
                <c:ptCount val="1"/>
                <c:pt idx="0">
                  <c:v>Total</c:v>
                </c:pt>
              </c:strCache>
            </c:strRef>
          </c:tx>
          <c:spPr>
            <a:solidFill>
              <a:schemeClr val="accent1"/>
            </a:solidFill>
            <a:ln>
              <a:noFill/>
            </a:ln>
            <a:effectLst/>
          </c:spPr>
          <c:invertIfNegative val="0"/>
          <c:dLbls>
            <c:dLbl>
              <c:idx val="0"/>
              <c:tx>
                <c:rich>
                  <a:bodyPr/>
                  <a:lstStyle/>
                  <a:p>
                    <a:fld id="{6F4E3ED0-0422-41F3-9C27-DF89363BD1A6}" type="VALUE">
                      <a:rPr lang="en-US">
                        <a:solidFill>
                          <a:schemeClr val="bg2"/>
                        </a:solidFill>
                      </a:rPr>
                      <a:pPr/>
                      <a:t>[VALUE]</a:t>
                    </a:fld>
                    <a:endParaRPr lang="en-IN"/>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C30-498D-9D16-FFEEE23DCC1B}"/>
                </c:ext>
              </c:extLst>
            </c:dLbl>
            <c:dLbl>
              <c:idx val="1"/>
              <c:tx>
                <c:rich>
                  <a:bodyPr/>
                  <a:lstStyle/>
                  <a:p>
                    <a:fld id="{09D91C9A-49E9-49C5-A1ED-25733E382A32}" type="VALUE">
                      <a:rPr lang="en-US">
                        <a:solidFill>
                          <a:schemeClr val="bg2"/>
                        </a:solidFill>
                      </a:rPr>
                      <a:pPr/>
                      <a:t>[VALUE]</a:t>
                    </a:fld>
                    <a:endParaRPr lang="en-IN"/>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BC30-498D-9D16-FFEEE23DCC1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Dashboard!$ER$16:$ER$18</c:f>
              <c:strCache>
                <c:ptCount val="2"/>
                <c:pt idx="0">
                  <c:v>CALL</c:v>
                </c:pt>
                <c:pt idx="1">
                  <c:v>CHAT</c:v>
                </c:pt>
              </c:strCache>
            </c:strRef>
          </c:cat>
          <c:val>
            <c:numRef>
              <c:f>Dashboard!$ES$16:$ES$18</c:f>
              <c:numCache>
                <c:formatCode>0.0</c:formatCode>
                <c:ptCount val="2"/>
                <c:pt idx="0">
                  <c:v>168442.03500000009</c:v>
                </c:pt>
                <c:pt idx="1">
                  <c:v>45494.683333333334</c:v>
                </c:pt>
              </c:numCache>
            </c:numRef>
          </c:val>
          <c:extLst>
            <c:ext xmlns:c16="http://schemas.microsoft.com/office/drawing/2014/chart" uri="{C3380CC4-5D6E-409C-BE32-E72D297353CC}">
              <c16:uniqueId val="{00000000-BC30-498D-9D16-FFEEE23DCC1B}"/>
            </c:ext>
          </c:extLst>
        </c:ser>
        <c:dLbls>
          <c:dLblPos val="outEnd"/>
          <c:showLegendKey val="0"/>
          <c:showVal val="1"/>
          <c:showCatName val="0"/>
          <c:showSerName val="0"/>
          <c:showPercent val="0"/>
          <c:showBubbleSize val="0"/>
        </c:dLbls>
        <c:gapWidth val="219"/>
        <c:overlap val="-27"/>
        <c:axId val="940885679"/>
        <c:axId val="940886159"/>
      </c:barChart>
      <c:catAx>
        <c:axId val="9408856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940886159"/>
        <c:crosses val="autoZero"/>
        <c:auto val="1"/>
        <c:lblAlgn val="ctr"/>
        <c:lblOffset val="100"/>
        <c:noMultiLvlLbl val="0"/>
      </c:catAx>
      <c:valAx>
        <c:axId val="940886159"/>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9408856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[Final_NewExcel2_Astrosage.xlsx]Dashboard!PivotTable8</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bg2"/>
                </a:solidFill>
              </a:rPr>
              <a:t>Rating-wise Guru Distribution</a:t>
            </a:r>
            <a:endParaRPr lang="en-US" dirty="0">
              <a:solidFill>
                <a:schemeClr val="bg2"/>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FC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FFC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FFC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Dashboard!$ES$21</c:f>
              <c:strCache>
                <c:ptCount val="1"/>
                <c:pt idx="0">
                  <c:v>Total</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Dashboard!$ER$22:$ER$32</c:f>
              <c:strCache>
                <c:ptCount val="10"/>
                <c:pt idx="0">
                  <c:v>305</c:v>
                </c:pt>
                <c:pt idx="1">
                  <c:v>97</c:v>
                </c:pt>
                <c:pt idx="2">
                  <c:v>286</c:v>
                </c:pt>
                <c:pt idx="3">
                  <c:v>289</c:v>
                </c:pt>
                <c:pt idx="4">
                  <c:v>312</c:v>
                </c:pt>
                <c:pt idx="5">
                  <c:v>309</c:v>
                </c:pt>
                <c:pt idx="6">
                  <c:v>302</c:v>
                </c:pt>
                <c:pt idx="7">
                  <c:v>304</c:v>
                </c:pt>
                <c:pt idx="8">
                  <c:v>253</c:v>
                </c:pt>
                <c:pt idx="9">
                  <c:v>27</c:v>
                </c:pt>
              </c:strCache>
            </c:strRef>
          </c:cat>
          <c:val>
            <c:numRef>
              <c:f>Dashboard!$ES$22:$ES$32</c:f>
              <c:numCache>
                <c:formatCode>0</c:formatCode>
                <c:ptCount val="10"/>
                <c:pt idx="0">
                  <c:v>7.5</c:v>
                </c:pt>
                <c:pt idx="1">
                  <c:v>7.5</c:v>
                </c:pt>
                <c:pt idx="2">
                  <c:v>5.9</c:v>
                </c:pt>
                <c:pt idx="3">
                  <c:v>5.75</c:v>
                </c:pt>
                <c:pt idx="4">
                  <c:v>5.6111111111111107</c:v>
                </c:pt>
                <c:pt idx="5">
                  <c:v>5.4626865671641793</c:v>
                </c:pt>
                <c:pt idx="6">
                  <c:v>5.4243243243243242</c:v>
                </c:pt>
                <c:pt idx="7">
                  <c:v>5.4</c:v>
                </c:pt>
                <c:pt idx="8">
                  <c:v>5.0487804878048781</c:v>
                </c:pt>
                <c:pt idx="9">
                  <c:v>4.957746478873239</c:v>
                </c:pt>
              </c:numCache>
            </c:numRef>
          </c:val>
          <c:extLst>
            <c:ext xmlns:c16="http://schemas.microsoft.com/office/drawing/2014/chart" uri="{C3380CC4-5D6E-409C-BE32-E72D297353CC}">
              <c16:uniqueId val="{00000000-0072-4843-80D5-5EBAAE09BFD1}"/>
            </c:ext>
          </c:extLst>
        </c:ser>
        <c:dLbls>
          <c:dLblPos val="outEnd"/>
          <c:showLegendKey val="0"/>
          <c:showVal val="1"/>
          <c:showCatName val="0"/>
          <c:showSerName val="0"/>
          <c:showPercent val="0"/>
          <c:showBubbleSize val="0"/>
        </c:dLbls>
        <c:gapWidth val="182"/>
        <c:axId val="445568687"/>
        <c:axId val="445567727"/>
      </c:barChart>
      <c:catAx>
        <c:axId val="44556868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5567727"/>
        <c:crosses val="autoZero"/>
        <c:auto val="1"/>
        <c:lblAlgn val="ctr"/>
        <c:lblOffset val="100"/>
        <c:noMultiLvlLbl val="0"/>
      </c:catAx>
      <c:valAx>
        <c:axId val="445567727"/>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55686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7">
  <a:schemeClr val="accent4"/>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437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D9A79-115A-3F9F-5849-89C10084F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74084-975B-3EBA-68DA-863903A015F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107FA52-F423-A0C2-C03B-C0FE90021C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20A29F-4A32-43A0-DD5B-1452B0990436}"/>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747779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D8C81-37D9-E2BA-D9E6-8A610DDDAD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5D3851-49FE-8B50-BAB8-9CD877FE59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35B21F7-3155-0AE3-62B3-83F964FE57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059C26-1EA0-DFAE-A0D6-2E507BE699F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803789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85A28-AD4F-E081-CB7F-4D7719D62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768DE4-3E6E-F6C6-F2A0-62B25480ACC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CA3631E-62A7-B4F3-677B-3FF083CC66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FED8F2-8217-1B8C-B8B3-60E24E2A9E8F}"/>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148198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B5F37-DFA4-9BAA-6F64-D8CC5E0935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CC22D-43EF-2918-3F37-9E450ABBC50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C0CF386-3EBE-9FA0-3907-BD90FDC090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B344E8-8972-C9EA-517B-B4B116FAE6C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744209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EA5DC-6525-4CA8-C83C-666AD69DC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7718FB-D40F-DC4D-AD80-E4F7F5D25E4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B448757-FE51-9CC3-7F01-AB345EB157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FCE3BE-4D1E-E84F-EC61-D358572B754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17117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0792C-A8C6-C43C-7CDA-923F040AC4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3D613-8E05-0296-5BC1-8C821842FBC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E0204BE-59FD-9ED0-4711-72EAAF0150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6DBC9E-7949-299F-412C-24556FDA2CB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994864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9CAF8-B34F-DF68-D494-1FA90E111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4BFD5E-7C47-E6E7-5860-D7C545F2B36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32C759E-E44E-FA5B-5CEF-96EB61377D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7A9848-D74B-CF6C-78FB-B9E9A1493D12}"/>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5726602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7D6BA-8BA7-883D-1569-B9EC7C910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57444-AFFD-9D18-ADD5-F9AF1FDBF0D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778BF0F-F1DA-FCB4-9B8B-4D464844C6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96A74B-1BCB-37D7-D461-B6871E42D030}"/>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446153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6EF83-4BEA-3C44-6DA0-FD845A8C3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5E4EF3-F0EA-8303-E58D-26BED0D2AD9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67C356B-8B8F-7481-BE9F-26E07754D2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54020C-CD26-1A4D-9048-0EA342269C18}"/>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6027164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BA82D-B70D-C7D2-8425-37164E423C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9C3E56-185D-89DB-B281-8691A9B1C9F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4E46A74-47AB-1143-8A5F-2FACF1A884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EA7C1A-79E3-394F-C074-31EB01FBAC2F}"/>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085268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3BB95-5C6D-6B03-61DF-5CB4EB86E1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1A323-19EC-F846-3083-F24FCE20450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B596520-41BF-2FCC-77A2-A8D0BEAA64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4381E8-EC20-4056-7095-695680F5DE8F}"/>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5483603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A7E66-9D84-F908-A933-DB8FBA2D8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EC0FD-F6B6-6BAE-2DFF-319F1D9C3C6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F761DF8-5047-ED81-72D9-BB09C32047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3A710D-9937-E976-5FDB-7F007929E511}"/>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1379295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5" name="Text 3"/>
          <p:cNvSpPr/>
          <p:nvPr/>
        </p:nvSpPr>
        <p:spPr>
          <a:xfrm>
            <a:off x="411480" y="640080"/>
            <a:ext cx="6400800" cy="822960"/>
          </a:xfrm>
          <a:prstGeom prst="rect">
            <a:avLst/>
          </a:prstGeom>
          <a:noFill/>
          <a:ln/>
        </p:spPr>
        <p:txBody>
          <a:bodyPr wrap="square" lIns="0" tIns="0" rIns="0" bIns="0" rtlCol="0" anchor="ctr"/>
          <a:lstStyle/>
          <a:p>
            <a:endParaRPr lang="en-US" sz="5200" dirty="0">
              <a:solidFill>
                <a:schemeClr val="bg1"/>
              </a:solidFill>
            </a:endParaRPr>
          </a:p>
        </p:txBody>
      </p:sp>
      <p:sp>
        <p:nvSpPr>
          <p:cNvPr id="6" name="Text 4"/>
          <p:cNvSpPr/>
          <p:nvPr/>
        </p:nvSpPr>
        <p:spPr>
          <a:xfrm>
            <a:off x="2628900" y="2014359"/>
            <a:ext cx="7772400" cy="594360"/>
          </a:xfrm>
          <a:prstGeom prst="rect">
            <a:avLst/>
          </a:prstGeom>
          <a:noFill/>
          <a:ln/>
        </p:spPr>
        <p:txBody>
          <a:bodyPr wrap="square" lIns="0" tIns="0" rIns="0" bIns="0" rtlCol="0" anchor="ctr"/>
          <a:lstStyle/>
          <a:p>
            <a:r>
              <a:rPr lang="en-IN" sz="1400" b="1" dirty="0">
                <a:solidFill>
                  <a:schemeClr val="bg1"/>
                </a:solidFill>
              </a:rPr>
              <a:t>Optimizing ₹1 Crore Investment Using Microsoft Excel</a:t>
            </a:r>
            <a:endParaRPr lang="en-US" sz="1400" b="1" dirty="0">
              <a:solidFill>
                <a:schemeClr val="bg1"/>
              </a:solidFill>
            </a:endParaRPr>
          </a:p>
        </p:txBody>
      </p:sp>
      <p:sp>
        <p:nvSpPr>
          <p:cNvPr id="21" name="Text 19"/>
          <p:cNvSpPr/>
          <p:nvPr/>
        </p:nvSpPr>
        <p:spPr>
          <a:xfrm>
            <a:off x="411480" y="4754880"/>
            <a:ext cx="8412480" cy="228600"/>
          </a:xfrm>
          <a:prstGeom prst="rect">
            <a:avLst/>
          </a:prstGeom>
          <a:noFill/>
          <a:ln/>
        </p:spPr>
        <p:txBody>
          <a:bodyPr wrap="square" lIns="0" tIns="0" rIns="0" bIns="0" rtlCol="0" anchor="ctr"/>
          <a:lstStyle/>
          <a:p>
            <a:pPr marL="0" indent="0">
              <a:buNone/>
            </a:pPr>
            <a:endParaRPr lang="en-US" sz="900" dirty="0"/>
          </a:p>
        </p:txBody>
      </p:sp>
      <p:sp>
        <p:nvSpPr>
          <p:cNvPr id="23" name="TextBox 22">
            <a:extLst>
              <a:ext uri="{FF2B5EF4-FFF2-40B4-BE49-F238E27FC236}">
                <a16:creationId xmlns:a16="http://schemas.microsoft.com/office/drawing/2014/main" id="{F462F597-317E-C59A-713D-280AB230FA63}"/>
              </a:ext>
            </a:extLst>
          </p:cNvPr>
          <p:cNvSpPr txBox="1"/>
          <p:nvPr/>
        </p:nvSpPr>
        <p:spPr>
          <a:xfrm>
            <a:off x="1005840" y="1594902"/>
            <a:ext cx="8321040" cy="584775"/>
          </a:xfrm>
          <a:prstGeom prst="rect">
            <a:avLst/>
          </a:prstGeom>
          <a:noFill/>
        </p:spPr>
        <p:txBody>
          <a:bodyPr wrap="square">
            <a:spAutoFit/>
          </a:bodyPr>
          <a:lstStyle/>
          <a:p>
            <a:r>
              <a:rPr lang="en-IN" sz="3200" b="1" dirty="0" err="1">
                <a:solidFill>
                  <a:schemeClr val="bg1"/>
                </a:solidFill>
              </a:rPr>
              <a:t>AstroSage</a:t>
            </a:r>
            <a:r>
              <a:rPr lang="en-IN" sz="3200" b="1" dirty="0">
                <a:solidFill>
                  <a:schemeClr val="bg1"/>
                </a:solidFill>
              </a:rPr>
              <a:t> Call </a:t>
            </a:r>
            <a:r>
              <a:rPr lang="en-IN" sz="3200" b="1" dirty="0" err="1">
                <a:solidFill>
                  <a:schemeClr val="bg1"/>
                </a:solidFill>
              </a:rPr>
              <a:t>Center</a:t>
            </a:r>
            <a:r>
              <a:rPr lang="en-IN" sz="3200" b="1" dirty="0">
                <a:solidFill>
                  <a:schemeClr val="bg1"/>
                </a:solidFill>
              </a:rPr>
              <a:t> Operations Analysis</a:t>
            </a:r>
          </a:p>
        </p:txBody>
      </p:sp>
      <p:sp>
        <p:nvSpPr>
          <p:cNvPr id="25" name="TextBox 24">
            <a:extLst>
              <a:ext uri="{FF2B5EF4-FFF2-40B4-BE49-F238E27FC236}">
                <a16:creationId xmlns:a16="http://schemas.microsoft.com/office/drawing/2014/main" id="{5AF4A69E-741C-CF8A-8262-5DD5F2CE087F}"/>
              </a:ext>
            </a:extLst>
          </p:cNvPr>
          <p:cNvSpPr txBox="1"/>
          <p:nvPr/>
        </p:nvSpPr>
        <p:spPr>
          <a:xfrm>
            <a:off x="6036945" y="4060150"/>
            <a:ext cx="4575810" cy="923330"/>
          </a:xfrm>
          <a:prstGeom prst="rect">
            <a:avLst/>
          </a:prstGeom>
          <a:noFill/>
        </p:spPr>
        <p:txBody>
          <a:bodyPr wrap="square">
            <a:spAutoFit/>
          </a:bodyPr>
          <a:lstStyle/>
          <a:p>
            <a:pPr>
              <a:buNone/>
            </a:pPr>
            <a:r>
              <a:rPr lang="en-US" b="1" dirty="0">
                <a:solidFill>
                  <a:schemeClr val="bg1"/>
                </a:solidFill>
              </a:rPr>
              <a:t>Presented By</a:t>
            </a:r>
          </a:p>
          <a:p>
            <a:pPr>
              <a:buNone/>
            </a:pPr>
            <a:r>
              <a:rPr lang="en-US" dirty="0">
                <a:solidFill>
                  <a:schemeClr val="bg1"/>
                </a:solidFill>
              </a:rPr>
              <a:t>Deeksha B K</a:t>
            </a:r>
            <a:br>
              <a:rPr lang="en-US" dirty="0">
                <a:solidFill>
                  <a:schemeClr val="bg1"/>
                </a:solidFill>
              </a:rPr>
            </a:br>
            <a:r>
              <a:rPr lang="en-US" dirty="0">
                <a:solidFill>
                  <a:schemeClr val="bg1"/>
                </a:solidFill>
              </a:rPr>
              <a:t>Computer Science Engineering</a:t>
            </a:r>
          </a:p>
        </p:txBody>
      </p:sp>
      <p:sp>
        <p:nvSpPr>
          <p:cNvPr id="27" name="TextBox 26">
            <a:extLst>
              <a:ext uri="{FF2B5EF4-FFF2-40B4-BE49-F238E27FC236}">
                <a16:creationId xmlns:a16="http://schemas.microsoft.com/office/drawing/2014/main" id="{5652EB2E-984F-6527-8CB8-855B8C9B5C9C}"/>
              </a:ext>
            </a:extLst>
          </p:cNvPr>
          <p:cNvSpPr txBox="1"/>
          <p:nvPr/>
        </p:nvSpPr>
        <p:spPr>
          <a:xfrm>
            <a:off x="237363" y="4244802"/>
            <a:ext cx="5177790" cy="646331"/>
          </a:xfrm>
          <a:prstGeom prst="rect">
            <a:avLst/>
          </a:prstGeom>
          <a:noFill/>
        </p:spPr>
        <p:txBody>
          <a:bodyPr wrap="square">
            <a:spAutoFit/>
          </a:bodyPr>
          <a:lstStyle/>
          <a:p>
            <a:r>
              <a:rPr lang="en-US" dirty="0">
                <a:solidFill>
                  <a:schemeClr val="bg1"/>
                </a:solidFill>
              </a:rPr>
              <a:t>Newton School Project</a:t>
            </a:r>
            <a:br>
              <a:rPr lang="en-US" dirty="0">
                <a:solidFill>
                  <a:schemeClr val="bg1"/>
                </a:solidFill>
              </a:rPr>
            </a:br>
            <a:r>
              <a:rPr lang="en-US" dirty="0">
                <a:solidFill>
                  <a:schemeClr val="bg1"/>
                </a:solidFill>
              </a:rPr>
              <a:t>May 2026</a:t>
            </a:r>
            <a:endParaRPr lang="en-IN" dirty="0">
              <a:solidFill>
                <a:schemeClr val="bg1"/>
              </a:solidFill>
            </a:endParaRPr>
          </a:p>
        </p:txBody>
      </p:sp>
      <p:sp>
        <p:nvSpPr>
          <p:cNvPr id="2" name="Rectangle 1">
            <a:extLst>
              <a:ext uri="{FF2B5EF4-FFF2-40B4-BE49-F238E27FC236}">
                <a16:creationId xmlns:a16="http://schemas.microsoft.com/office/drawing/2014/main" id="{C8E60137-1C32-438F-BC32-57D08754B54E}"/>
              </a:ext>
            </a:extLst>
          </p:cNvPr>
          <p:cNvSpPr/>
          <p:nvPr/>
        </p:nvSpPr>
        <p:spPr>
          <a:xfrm>
            <a:off x="0" y="-100918"/>
            <a:ext cx="2568054" cy="2304955"/>
          </a:xfrm>
          <a:prstGeom prst="rect">
            <a:avLst/>
          </a:prstGeom>
          <a:solidFill>
            <a:schemeClr val="accent1">
              <a:alpha val="15000"/>
            </a:schemeClr>
          </a:solidFill>
          <a:ln>
            <a:solidFill>
              <a:schemeClr val="accent1">
                <a:shade val="50000"/>
                <a:alpha val="54000"/>
              </a:schemeClr>
            </a:solidFill>
          </a:ln>
          <a:effectLst>
            <a:glow rad="228600">
              <a:schemeClr val="accent1">
                <a:alpha val="38000"/>
              </a:schemeClr>
            </a:glow>
            <a:outerShdw blurRad="50800" dist="50800" dir="5400000" algn="ctr" rotWithShape="0">
              <a:srgbClr val="000000">
                <a:alpha val="15000"/>
              </a:srgbClr>
            </a:outerShdw>
            <a:softEdge rad="393700"/>
          </a:effectLst>
          <a:scene3d>
            <a:camera prst="orthographicFront"/>
            <a:lightRig rig="threePt" dir="t"/>
          </a:scene3d>
          <a:sp3d prstMaterial="powder"/>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2502869C-BADA-4DCC-9494-3DC971084DE5}"/>
              </a:ext>
            </a:extLst>
          </p:cNvPr>
          <p:cNvSpPr/>
          <p:nvPr/>
        </p:nvSpPr>
        <p:spPr>
          <a:xfrm>
            <a:off x="3425133" y="2907672"/>
            <a:ext cx="2568054" cy="2304955"/>
          </a:xfrm>
          <a:prstGeom prst="rect">
            <a:avLst/>
          </a:prstGeom>
          <a:solidFill>
            <a:schemeClr val="accent1">
              <a:alpha val="14000"/>
            </a:schemeClr>
          </a:solidFill>
          <a:ln>
            <a:solidFill>
              <a:schemeClr val="accent1">
                <a:shade val="50000"/>
                <a:alpha val="54000"/>
              </a:schemeClr>
            </a:solidFill>
          </a:ln>
          <a:effectLst>
            <a:glow rad="228600">
              <a:schemeClr val="accent1">
                <a:alpha val="38000"/>
              </a:schemeClr>
            </a:glow>
            <a:outerShdw blurRad="50800" dist="50800" dir="5400000" algn="ctr" rotWithShape="0">
              <a:srgbClr val="000000">
                <a:alpha val="15000"/>
              </a:srgbClr>
            </a:outerShdw>
            <a:softEdge rad="393700"/>
          </a:effectLst>
          <a:scene3d>
            <a:camera prst="orthographicFront"/>
            <a:lightRig rig="threePt" dir="t"/>
          </a:scene3d>
          <a:sp3d prstMaterial="powder"/>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5D0AACA4-8C21-44B0-9115-3B508BE4077D}"/>
              </a:ext>
            </a:extLst>
          </p:cNvPr>
          <p:cNvPicPr>
            <a:picLocks noChangeAspect="1"/>
          </p:cNvPicPr>
          <p:nvPr/>
        </p:nvPicPr>
        <p:blipFill>
          <a:blip r:embed="rId3"/>
          <a:stretch>
            <a:fillRect/>
          </a:stretch>
        </p:blipFill>
        <p:spPr>
          <a:xfrm>
            <a:off x="6089702" y="-610523"/>
            <a:ext cx="3616856" cy="33241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4" name="Text 2"/>
          <p:cNvSpPr/>
          <p:nvPr/>
        </p:nvSpPr>
        <p:spPr>
          <a:xfrm>
            <a:off x="621792" y="201168"/>
            <a:ext cx="7315200" cy="411480"/>
          </a:xfrm>
          <a:prstGeom prst="rect">
            <a:avLst/>
          </a:prstGeom>
          <a:noFill/>
          <a:ln/>
        </p:spPr>
        <p:txBody>
          <a:bodyPr wrap="square" lIns="0" tIns="0" rIns="0" bIns="0" rtlCol="0" anchor="ctr"/>
          <a:lstStyle/>
          <a:p>
            <a:r>
              <a:rPr lang="en-IN" sz="2400" b="1" dirty="0">
                <a:solidFill>
                  <a:schemeClr val="bg1"/>
                </a:solidFill>
              </a:rPr>
              <a:t>Project Workflow</a:t>
            </a:r>
            <a:endParaRPr lang="en-US" sz="2400" b="1" dirty="0">
              <a:solidFill>
                <a:schemeClr val="bg1"/>
              </a:solidFill>
            </a:endParaRPr>
          </a:p>
        </p:txBody>
      </p:sp>
      <p:sp>
        <p:nvSpPr>
          <p:cNvPr id="5" name="Shape 3"/>
          <p:cNvSpPr/>
          <p:nvPr/>
        </p:nvSpPr>
        <p:spPr>
          <a:xfrm>
            <a:off x="365760" y="777240"/>
            <a:ext cx="4206240" cy="914400"/>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6" name="Text 4"/>
          <p:cNvSpPr/>
          <p:nvPr/>
        </p:nvSpPr>
        <p:spPr>
          <a:xfrm>
            <a:off x="475488" y="886968"/>
            <a:ext cx="502920" cy="658368"/>
          </a:xfrm>
          <a:prstGeom prst="rect">
            <a:avLst/>
          </a:prstGeom>
          <a:noFill/>
          <a:ln/>
        </p:spPr>
        <p:txBody>
          <a:bodyPr wrap="square" lIns="0" tIns="0" rIns="0" bIns="0" rtlCol="0" anchor="ctr"/>
          <a:lstStyle/>
          <a:p>
            <a:pPr marL="0" indent="0" algn="ctr">
              <a:buNone/>
            </a:pPr>
            <a:r>
              <a:rPr lang="en-US" sz="2200" b="1" dirty="0">
                <a:solidFill>
                  <a:srgbClr val="C9A84C"/>
                </a:solidFill>
              </a:rPr>
              <a:t>01</a:t>
            </a:r>
            <a:endParaRPr lang="en-US" sz="2200" dirty="0"/>
          </a:p>
        </p:txBody>
      </p:sp>
      <p:sp>
        <p:nvSpPr>
          <p:cNvPr id="7" name="Shape 5"/>
          <p:cNvSpPr/>
          <p:nvPr/>
        </p:nvSpPr>
        <p:spPr>
          <a:xfrm>
            <a:off x="1024128" y="914400"/>
            <a:ext cx="22860" cy="640080"/>
          </a:xfrm>
          <a:prstGeom prst="rect">
            <a:avLst/>
          </a:prstGeom>
          <a:solidFill>
            <a:srgbClr val="22395A"/>
          </a:solidFill>
          <a:ln w="12700">
            <a:solidFill>
              <a:srgbClr val="22395A"/>
            </a:solidFill>
            <a:prstDash val="solid"/>
          </a:ln>
        </p:spPr>
        <p:txBody>
          <a:bodyPr/>
          <a:lstStyle/>
          <a:p>
            <a:endParaRPr lang="en-IN"/>
          </a:p>
        </p:txBody>
      </p:sp>
      <p:sp>
        <p:nvSpPr>
          <p:cNvPr id="8" name="Text 6"/>
          <p:cNvSpPr/>
          <p:nvPr/>
        </p:nvSpPr>
        <p:spPr>
          <a:xfrm>
            <a:off x="1115568" y="937260"/>
            <a:ext cx="3337560" cy="274320"/>
          </a:xfrm>
          <a:prstGeom prst="rect">
            <a:avLst/>
          </a:prstGeom>
          <a:noFill/>
          <a:ln/>
        </p:spPr>
        <p:txBody>
          <a:bodyPr wrap="square" lIns="0" tIns="0" rIns="0" bIns="0" rtlCol="0" anchor="ctr"/>
          <a:lstStyle/>
          <a:p>
            <a:r>
              <a:rPr lang="en-US" sz="1200" b="1" dirty="0">
                <a:solidFill>
                  <a:srgbClr val="FFFFFF"/>
                </a:solidFill>
              </a:rPr>
              <a:t>Problem Statement</a:t>
            </a:r>
            <a:endParaRPr lang="en-US" sz="1200" dirty="0"/>
          </a:p>
        </p:txBody>
      </p:sp>
      <p:sp>
        <p:nvSpPr>
          <p:cNvPr id="9" name="Text 7"/>
          <p:cNvSpPr/>
          <p:nvPr/>
        </p:nvSpPr>
        <p:spPr>
          <a:xfrm>
            <a:off x="1115568" y="1143000"/>
            <a:ext cx="3337560" cy="457200"/>
          </a:xfrm>
          <a:prstGeom prst="rect">
            <a:avLst/>
          </a:prstGeom>
          <a:noFill/>
          <a:ln/>
        </p:spPr>
        <p:txBody>
          <a:bodyPr wrap="square" lIns="0" tIns="0" rIns="0" bIns="0" rtlCol="0" anchor="ctr"/>
          <a:lstStyle/>
          <a:p>
            <a:r>
              <a:rPr lang="en-US" sz="950" dirty="0">
                <a:solidFill>
                  <a:srgbClr val="8DA2B8"/>
                </a:solidFill>
              </a:rPr>
              <a:t> analyzing historical call data, performance metrics</a:t>
            </a:r>
          </a:p>
        </p:txBody>
      </p:sp>
      <p:sp>
        <p:nvSpPr>
          <p:cNvPr id="10" name="Shape 8"/>
          <p:cNvSpPr/>
          <p:nvPr/>
        </p:nvSpPr>
        <p:spPr>
          <a:xfrm>
            <a:off x="4800600" y="768096"/>
            <a:ext cx="4206240" cy="914400"/>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11" name="Text 9"/>
          <p:cNvSpPr/>
          <p:nvPr/>
        </p:nvSpPr>
        <p:spPr>
          <a:xfrm>
            <a:off x="4910328" y="886968"/>
            <a:ext cx="502920" cy="658368"/>
          </a:xfrm>
          <a:prstGeom prst="rect">
            <a:avLst/>
          </a:prstGeom>
          <a:noFill/>
          <a:ln/>
        </p:spPr>
        <p:txBody>
          <a:bodyPr wrap="square" lIns="0" tIns="0" rIns="0" bIns="0" rtlCol="0" anchor="ctr"/>
          <a:lstStyle/>
          <a:p>
            <a:pPr marL="0" indent="0" algn="ctr">
              <a:buNone/>
            </a:pPr>
            <a:r>
              <a:rPr lang="en-US" sz="2200" b="1" dirty="0">
                <a:solidFill>
                  <a:srgbClr val="C9A84C"/>
                </a:solidFill>
              </a:rPr>
              <a:t>02</a:t>
            </a:r>
            <a:endParaRPr lang="en-US" sz="2200" dirty="0"/>
          </a:p>
        </p:txBody>
      </p:sp>
      <p:sp>
        <p:nvSpPr>
          <p:cNvPr id="12" name="Shape 10"/>
          <p:cNvSpPr/>
          <p:nvPr/>
        </p:nvSpPr>
        <p:spPr>
          <a:xfrm>
            <a:off x="5458968" y="914400"/>
            <a:ext cx="22860" cy="640080"/>
          </a:xfrm>
          <a:prstGeom prst="rect">
            <a:avLst/>
          </a:prstGeom>
          <a:solidFill>
            <a:srgbClr val="22395A"/>
          </a:solidFill>
          <a:ln w="12700">
            <a:solidFill>
              <a:srgbClr val="22395A"/>
            </a:solidFill>
            <a:prstDash val="solid"/>
          </a:ln>
        </p:spPr>
        <p:txBody>
          <a:bodyPr/>
          <a:lstStyle/>
          <a:p>
            <a:endParaRPr lang="en-IN"/>
          </a:p>
        </p:txBody>
      </p:sp>
      <p:sp>
        <p:nvSpPr>
          <p:cNvPr id="13" name="Text 11"/>
          <p:cNvSpPr/>
          <p:nvPr/>
        </p:nvSpPr>
        <p:spPr>
          <a:xfrm>
            <a:off x="5550408" y="937260"/>
            <a:ext cx="3337560" cy="274320"/>
          </a:xfrm>
          <a:prstGeom prst="rect">
            <a:avLst/>
          </a:prstGeom>
          <a:noFill/>
          <a:ln/>
        </p:spPr>
        <p:txBody>
          <a:bodyPr wrap="square" lIns="0" tIns="0" rIns="0" bIns="0" rtlCol="0" anchor="ctr"/>
          <a:lstStyle/>
          <a:p>
            <a:r>
              <a:rPr lang="en-US" sz="1200" b="1" dirty="0">
                <a:solidFill>
                  <a:schemeClr val="bg1"/>
                </a:solidFill>
              </a:rPr>
              <a:t>Overview</a:t>
            </a:r>
          </a:p>
        </p:txBody>
      </p:sp>
      <p:sp>
        <p:nvSpPr>
          <p:cNvPr id="14" name="Text 12"/>
          <p:cNvSpPr/>
          <p:nvPr/>
        </p:nvSpPr>
        <p:spPr>
          <a:xfrm>
            <a:off x="5550408" y="1143000"/>
            <a:ext cx="3337560" cy="457200"/>
          </a:xfrm>
          <a:prstGeom prst="rect">
            <a:avLst/>
          </a:prstGeom>
          <a:noFill/>
          <a:ln/>
        </p:spPr>
        <p:txBody>
          <a:bodyPr wrap="square" lIns="0" tIns="0" rIns="0" bIns="0" rtlCol="0" anchor="ctr"/>
          <a:lstStyle/>
          <a:p>
            <a:r>
              <a:rPr lang="en-IN" sz="950" dirty="0">
                <a:solidFill>
                  <a:srgbClr val="8DA2B8"/>
                </a:solidFill>
              </a:rPr>
              <a:t>analyses the call </a:t>
            </a:r>
            <a:r>
              <a:rPr lang="en-IN" sz="950" dirty="0" err="1">
                <a:solidFill>
                  <a:srgbClr val="8DA2B8"/>
                </a:solidFill>
              </a:rPr>
              <a:t>center</a:t>
            </a:r>
            <a:r>
              <a:rPr lang="en-IN" sz="950" dirty="0">
                <a:solidFill>
                  <a:srgbClr val="8DA2B8"/>
                </a:solidFill>
              </a:rPr>
              <a:t> operations of </a:t>
            </a:r>
            <a:r>
              <a:rPr lang="en-IN" sz="950" dirty="0" err="1">
                <a:solidFill>
                  <a:srgbClr val="8DA2B8"/>
                </a:solidFill>
              </a:rPr>
              <a:t>AstroSage</a:t>
            </a:r>
            <a:endParaRPr lang="en-US" sz="950" dirty="0">
              <a:solidFill>
                <a:srgbClr val="8DA2B8"/>
              </a:solidFill>
            </a:endParaRPr>
          </a:p>
        </p:txBody>
      </p:sp>
      <p:sp>
        <p:nvSpPr>
          <p:cNvPr id="15" name="Shape 13"/>
          <p:cNvSpPr/>
          <p:nvPr/>
        </p:nvSpPr>
        <p:spPr>
          <a:xfrm>
            <a:off x="365760" y="1810512"/>
            <a:ext cx="4206240" cy="914400"/>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16" name="Text 14"/>
          <p:cNvSpPr/>
          <p:nvPr/>
        </p:nvSpPr>
        <p:spPr>
          <a:xfrm>
            <a:off x="475488" y="1920240"/>
            <a:ext cx="502920" cy="658368"/>
          </a:xfrm>
          <a:prstGeom prst="rect">
            <a:avLst/>
          </a:prstGeom>
          <a:noFill/>
          <a:ln/>
        </p:spPr>
        <p:txBody>
          <a:bodyPr wrap="square" lIns="0" tIns="0" rIns="0" bIns="0" rtlCol="0" anchor="ctr"/>
          <a:lstStyle/>
          <a:p>
            <a:pPr marL="0" indent="0" algn="ctr">
              <a:buNone/>
            </a:pPr>
            <a:r>
              <a:rPr lang="en-US" sz="2200" b="1" dirty="0">
                <a:solidFill>
                  <a:srgbClr val="C9A84C"/>
                </a:solidFill>
              </a:rPr>
              <a:t>03</a:t>
            </a:r>
            <a:endParaRPr lang="en-US" sz="2200" dirty="0"/>
          </a:p>
        </p:txBody>
      </p:sp>
      <p:sp>
        <p:nvSpPr>
          <p:cNvPr id="17" name="Shape 15"/>
          <p:cNvSpPr/>
          <p:nvPr/>
        </p:nvSpPr>
        <p:spPr>
          <a:xfrm>
            <a:off x="1024128" y="1947672"/>
            <a:ext cx="22860" cy="640080"/>
          </a:xfrm>
          <a:prstGeom prst="rect">
            <a:avLst/>
          </a:prstGeom>
          <a:solidFill>
            <a:srgbClr val="22395A"/>
          </a:solidFill>
          <a:ln w="12700">
            <a:solidFill>
              <a:srgbClr val="22395A"/>
            </a:solidFill>
            <a:prstDash val="solid"/>
          </a:ln>
        </p:spPr>
        <p:txBody>
          <a:bodyPr/>
          <a:lstStyle/>
          <a:p>
            <a:endParaRPr lang="en-IN"/>
          </a:p>
        </p:txBody>
      </p:sp>
      <p:sp>
        <p:nvSpPr>
          <p:cNvPr id="18" name="Text 16"/>
          <p:cNvSpPr/>
          <p:nvPr/>
        </p:nvSpPr>
        <p:spPr>
          <a:xfrm>
            <a:off x="1115568" y="1883664"/>
            <a:ext cx="3337560" cy="274320"/>
          </a:xfrm>
          <a:prstGeom prst="rect">
            <a:avLst/>
          </a:prstGeom>
          <a:noFill/>
          <a:ln/>
        </p:spPr>
        <p:txBody>
          <a:bodyPr wrap="square" lIns="0" tIns="0" rIns="0" bIns="0" rtlCol="0" anchor="ctr"/>
          <a:lstStyle/>
          <a:p>
            <a:r>
              <a:rPr lang="en-US" sz="1200" b="1" dirty="0">
                <a:solidFill>
                  <a:schemeClr val="bg1"/>
                </a:solidFill>
              </a:rPr>
              <a:t>Charts</a:t>
            </a:r>
          </a:p>
        </p:txBody>
      </p:sp>
      <p:sp>
        <p:nvSpPr>
          <p:cNvPr id="19" name="Text 17"/>
          <p:cNvSpPr/>
          <p:nvPr/>
        </p:nvSpPr>
        <p:spPr>
          <a:xfrm>
            <a:off x="1115568" y="2176272"/>
            <a:ext cx="3337560" cy="457200"/>
          </a:xfrm>
          <a:prstGeom prst="rect">
            <a:avLst/>
          </a:prstGeom>
          <a:noFill/>
          <a:ln/>
        </p:spPr>
        <p:txBody>
          <a:bodyPr wrap="square" lIns="0" tIns="0" rIns="0" bIns="0" rtlCol="0" anchor="ctr"/>
          <a:lstStyle/>
          <a:p>
            <a:r>
              <a:rPr lang="en-US" sz="950" dirty="0">
                <a:solidFill>
                  <a:srgbClr val="8DA2B8"/>
                </a:solidFill>
              </a:rPr>
              <a:t>Charts and key Insights</a:t>
            </a:r>
          </a:p>
        </p:txBody>
      </p:sp>
      <p:sp>
        <p:nvSpPr>
          <p:cNvPr id="20" name="Shape 18"/>
          <p:cNvSpPr/>
          <p:nvPr/>
        </p:nvSpPr>
        <p:spPr>
          <a:xfrm>
            <a:off x="4800600" y="1810512"/>
            <a:ext cx="4206240" cy="914400"/>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21" name="Text 19"/>
          <p:cNvSpPr/>
          <p:nvPr/>
        </p:nvSpPr>
        <p:spPr>
          <a:xfrm>
            <a:off x="4910328" y="1920240"/>
            <a:ext cx="502920" cy="658368"/>
          </a:xfrm>
          <a:prstGeom prst="rect">
            <a:avLst/>
          </a:prstGeom>
          <a:noFill/>
          <a:ln/>
        </p:spPr>
        <p:txBody>
          <a:bodyPr wrap="square" lIns="0" tIns="0" rIns="0" bIns="0" rtlCol="0" anchor="ctr"/>
          <a:lstStyle/>
          <a:p>
            <a:pPr marL="0" indent="0" algn="ctr">
              <a:buNone/>
            </a:pPr>
            <a:r>
              <a:rPr lang="en-US" sz="2200" b="1" dirty="0">
                <a:solidFill>
                  <a:srgbClr val="C9A84C"/>
                </a:solidFill>
              </a:rPr>
              <a:t>04</a:t>
            </a:r>
            <a:endParaRPr lang="en-US" sz="2200" dirty="0"/>
          </a:p>
        </p:txBody>
      </p:sp>
      <p:sp>
        <p:nvSpPr>
          <p:cNvPr id="22" name="Shape 20"/>
          <p:cNvSpPr/>
          <p:nvPr/>
        </p:nvSpPr>
        <p:spPr>
          <a:xfrm>
            <a:off x="5458968" y="1947672"/>
            <a:ext cx="22860" cy="640080"/>
          </a:xfrm>
          <a:prstGeom prst="rect">
            <a:avLst/>
          </a:prstGeom>
          <a:solidFill>
            <a:srgbClr val="22395A"/>
          </a:solidFill>
          <a:ln w="12700">
            <a:solidFill>
              <a:srgbClr val="22395A"/>
            </a:solidFill>
            <a:prstDash val="solid"/>
          </a:ln>
        </p:spPr>
        <p:txBody>
          <a:bodyPr/>
          <a:lstStyle/>
          <a:p>
            <a:endParaRPr lang="en-IN"/>
          </a:p>
        </p:txBody>
      </p:sp>
      <p:sp>
        <p:nvSpPr>
          <p:cNvPr id="23" name="Text 21"/>
          <p:cNvSpPr/>
          <p:nvPr/>
        </p:nvSpPr>
        <p:spPr>
          <a:xfrm>
            <a:off x="5550408" y="1883664"/>
            <a:ext cx="3337560" cy="274320"/>
          </a:xfrm>
          <a:prstGeom prst="rect">
            <a:avLst/>
          </a:prstGeom>
          <a:noFill/>
          <a:ln/>
        </p:spPr>
        <p:txBody>
          <a:bodyPr wrap="square" lIns="0" tIns="0" rIns="0" bIns="0" rtlCol="0" anchor="ctr"/>
          <a:lstStyle/>
          <a:p>
            <a:r>
              <a:rPr lang="en-IN" sz="1200" b="1" dirty="0">
                <a:solidFill>
                  <a:schemeClr val="bg1"/>
                </a:solidFill>
              </a:rPr>
              <a:t>Data Analysis</a:t>
            </a:r>
            <a:endParaRPr lang="en-US" sz="1200" b="1" dirty="0">
              <a:solidFill>
                <a:schemeClr val="bg1"/>
              </a:solidFill>
            </a:endParaRPr>
          </a:p>
        </p:txBody>
      </p:sp>
      <p:sp>
        <p:nvSpPr>
          <p:cNvPr id="24" name="Text 22"/>
          <p:cNvSpPr/>
          <p:nvPr/>
        </p:nvSpPr>
        <p:spPr>
          <a:xfrm>
            <a:off x="5550408" y="2176272"/>
            <a:ext cx="3337560" cy="457200"/>
          </a:xfrm>
          <a:prstGeom prst="rect">
            <a:avLst/>
          </a:prstGeom>
          <a:noFill/>
          <a:ln/>
        </p:spPr>
        <p:txBody>
          <a:bodyPr wrap="square" lIns="0" tIns="0" rIns="0" bIns="0" rtlCol="0" anchor="ctr"/>
          <a:lstStyle/>
          <a:p>
            <a:r>
              <a:rPr lang="en-US" sz="950" dirty="0">
                <a:solidFill>
                  <a:srgbClr val="8DA2B8"/>
                </a:solidFill>
              </a:rPr>
              <a:t>Call volume, revenue, customer satisfaction and guru performance analysis</a:t>
            </a:r>
          </a:p>
        </p:txBody>
      </p:sp>
      <p:sp>
        <p:nvSpPr>
          <p:cNvPr id="25" name="Shape 23"/>
          <p:cNvSpPr/>
          <p:nvPr/>
        </p:nvSpPr>
        <p:spPr>
          <a:xfrm>
            <a:off x="374904" y="2816352"/>
            <a:ext cx="4206240" cy="914400"/>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26" name="Text 24"/>
          <p:cNvSpPr/>
          <p:nvPr/>
        </p:nvSpPr>
        <p:spPr>
          <a:xfrm>
            <a:off x="475488" y="2953512"/>
            <a:ext cx="502920" cy="658368"/>
          </a:xfrm>
          <a:prstGeom prst="rect">
            <a:avLst/>
          </a:prstGeom>
          <a:noFill/>
          <a:ln/>
        </p:spPr>
        <p:txBody>
          <a:bodyPr wrap="square" lIns="0" tIns="0" rIns="0" bIns="0" rtlCol="0" anchor="ctr"/>
          <a:lstStyle/>
          <a:p>
            <a:pPr marL="0" indent="0" algn="ctr">
              <a:buNone/>
            </a:pPr>
            <a:r>
              <a:rPr lang="en-US" sz="2200" b="1" dirty="0">
                <a:solidFill>
                  <a:srgbClr val="C9A84C"/>
                </a:solidFill>
              </a:rPr>
              <a:t>05</a:t>
            </a:r>
            <a:endParaRPr lang="en-US" sz="2200" dirty="0"/>
          </a:p>
        </p:txBody>
      </p:sp>
      <p:sp>
        <p:nvSpPr>
          <p:cNvPr id="27" name="Shape 25"/>
          <p:cNvSpPr/>
          <p:nvPr/>
        </p:nvSpPr>
        <p:spPr>
          <a:xfrm>
            <a:off x="1024128" y="2980944"/>
            <a:ext cx="22860" cy="640080"/>
          </a:xfrm>
          <a:prstGeom prst="rect">
            <a:avLst/>
          </a:prstGeom>
          <a:solidFill>
            <a:srgbClr val="22395A"/>
          </a:solidFill>
          <a:ln w="12700">
            <a:solidFill>
              <a:srgbClr val="22395A"/>
            </a:solidFill>
            <a:prstDash val="solid"/>
          </a:ln>
        </p:spPr>
        <p:txBody>
          <a:bodyPr/>
          <a:lstStyle/>
          <a:p>
            <a:endParaRPr lang="en-IN"/>
          </a:p>
        </p:txBody>
      </p:sp>
      <p:sp>
        <p:nvSpPr>
          <p:cNvPr id="28" name="Text 26"/>
          <p:cNvSpPr/>
          <p:nvPr/>
        </p:nvSpPr>
        <p:spPr>
          <a:xfrm>
            <a:off x="1115568" y="2916936"/>
            <a:ext cx="3337560" cy="274320"/>
          </a:xfrm>
          <a:prstGeom prst="rect">
            <a:avLst/>
          </a:prstGeom>
          <a:noFill/>
          <a:ln/>
        </p:spPr>
        <p:txBody>
          <a:bodyPr wrap="square" lIns="0" tIns="0" rIns="0" bIns="0" rtlCol="0" anchor="ctr"/>
          <a:lstStyle/>
          <a:p>
            <a:r>
              <a:rPr lang="en-US" sz="1200" b="1" dirty="0">
                <a:solidFill>
                  <a:schemeClr val="bg1"/>
                </a:solidFill>
              </a:rPr>
              <a:t>Key Insights</a:t>
            </a:r>
          </a:p>
        </p:txBody>
      </p:sp>
      <p:sp>
        <p:nvSpPr>
          <p:cNvPr id="29" name="Text 27"/>
          <p:cNvSpPr/>
          <p:nvPr/>
        </p:nvSpPr>
        <p:spPr>
          <a:xfrm>
            <a:off x="1115568" y="3209544"/>
            <a:ext cx="3337560" cy="457200"/>
          </a:xfrm>
          <a:prstGeom prst="rect">
            <a:avLst/>
          </a:prstGeom>
          <a:noFill/>
          <a:ln/>
        </p:spPr>
        <p:txBody>
          <a:bodyPr wrap="square" lIns="0" tIns="0" rIns="0" bIns="0" rtlCol="0" anchor="ctr"/>
          <a:lstStyle/>
          <a:p>
            <a:r>
              <a:rPr lang="en-US" sz="950" dirty="0">
                <a:solidFill>
                  <a:srgbClr val="8DA2B8"/>
                </a:solidFill>
              </a:rPr>
              <a:t>Key findings from call volume, revenue, satisfaction and repeat caller analysis</a:t>
            </a:r>
          </a:p>
        </p:txBody>
      </p:sp>
      <p:sp>
        <p:nvSpPr>
          <p:cNvPr id="30" name="Shape 28"/>
          <p:cNvSpPr/>
          <p:nvPr/>
        </p:nvSpPr>
        <p:spPr>
          <a:xfrm>
            <a:off x="4800600" y="2843784"/>
            <a:ext cx="4206240" cy="914400"/>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31" name="Text 29"/>
          <p:cNvSpPr/>
          <p:nvPr/>
        </p:nvSpPr>
        <p:spPr>
          <a:xfrm>
            <a:off x="4910328" y="2953512"/>
            <a:ext cx="502920" cy="658368"/>
          </a:xfrm>
          <a:prstGeom prst="rect">
            <a:avLst/>
          </a:prstGeom>
          <a:noFill/>
          <a:ln/>
        </p:spPr>
        <p:txBody>
          <a:bodyPr wrap="square" lIns="0" tIns="0" rIns="0" bIns="0" rtlCol="0" anchor="ctr"/>
          <a:lstStyle/>
          <a:p>
            <a:pPr marL="0" indent="0" algn="ctr">
              <a:buNone/>
            </a:pPr>
            <a:r>
              <a:rPr lang="en-US" sz="2200" b="1" dirty="0">
                <a:solidFill>
                  <a:srgbClr val="C9A84C"/>
                </a:solidFill>
              </a:rPr>
              <a:t>06</a:t>
            </a:r>
            <a:endParaRPr lang="en-US" sz="2200" dirty="0"/>
          </a:p>
        </p:txBody>
      </p:sp>
      <p:sp>
        <p:nvSpPr>
          <p:cNvPr id="32" name="Shape 30"/>
          <p:cNvSpPr/>
          <p:nvPr/>
        </p:nvSpPr>
        <p:spPr>
          <a:xfrm>
            <a:off x="5458968" y="2980944"/>
            <a:ext cx="22860" cy="640080"/>
          </a:xfrm>
          <a:prstGeom prst="rect">
            <a:avLst/>
          </a:prstGeom>
          <a:solidFill>
            <a:srgbClr val="22395A"/>
          </a:solidFill>
          <a:ln w="12700">
            <a:solidFill>
              <a:srgbClr val="22395A"/>
            </a:solidFill>
            <a:prstDash val="solid"/>
          </a:ln>
        </p:spPr>
        <p:txBody>
          <a:bodyPr/>
          <a:lstStyle/>
          <a:p>
            <a:endParaRPr lang="en-IN"/>
          </a:p>
        </p:txBody>
      </p:sp>
      <p:sp>
        <p:nvSpPr>
          <p:cNvPr id="33" name="Text 31"/>
          <p:cNvSpPr/>
          <p:nvPr/>
        </p:nvSpPr>
        <p:spPr>
          <a:xfrm>
            <a:off x="5550408" y="2916936"/>
            <a:ext cx="3337560" cy="274320"/>
          </a:xfrm>
          <a:prstGeom prst="rect">
            <a:avLst/>
          </a:prstGeom>
          <a:noFill/>
          <a:ln/>
        </p:spPr>
        <p:txBody>
          <a:bodyPr wrap="square" lIns="0" tIns="0" rIns="0" bIns="0" rtlCol="0" anchor="ctr"/>
          <a:lstStyle/>
          <a:p>
            <a:r>
              <a:rPr lang="en-US" sz="1200" b="1" dirty="0">
                <a:solidFill>
                  <a:schemeClr val="bg1"/>
                </a:solidFill>
              </a:rPr>
              <a:t>Dashboard </a:t>
            </a:r>
          </a:p>
        </p:txBody>
      </p:sp>
      <p:sp>
        <p:nvSpPr>
          <p:cNvPr id="34" name="Text 32"/>
          <p:cNvSpPr/>
          <p:nvPr/>
        </p:nvSpPr>
        <p:spPr>
          <a:xfrm>
            <a:off x="5550408" y="3209544"/>
            <a:ext cx="3337560" cy="457200"/>
          </a:xfrm>
          <a:prstGeom prst="rect">
            <a:avLst/>
          </a:prstGeom>
          <a:noFill/>
          <a:ln/>
        </p:spPr>
        <p:txBody>
          <a:bodyPr wrap="square" lIns="0" tIns="0" rIns="0" bIns="0" rtlCol="0" anchor="ctr"/>
          <a:lstStyle/>
          <a:p>
            <a:r>
              <a:rPr lang="en-US" sz="950" dirty="0">
                <a:solidFill>
                  <a:srgbClr val="8DA2B8"/>
                </a:solidFill>
              </a:rPr>
              <a:t>Built KPI cards, charts, Pivot Tables and interactive slicer</a:t>
            </a:r>
          </a:p>
        </p:txBody>
      </p:sp>
      <p:sp>
        <p:nvSpPr>
          <p:cNvPr id="35" name="Shape 33"/>
          <p:cNvSpPr/>
          <p:nvPr/>
        </p:nvSpPr>
        <p:spPr>
          <a:xfrm>
            <a:off x="365760" y="3877056"/>
            <a:ext cx="4206240" cy="914400"/>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36" name="Text 34"/>
          <p:cNvSpPr/>
          <p:nvPr/>
        </p:nvSpPr>
        <p:spPr>
          <a:xfrm>
            <a:off x="475488" y="3986784"/>
            <a:ext cx="502920" cy="658368"/>
          </a:xfrm>
          <a:prstGeom prst="rect">
            <a:avLst/>
          </a:prstGeom>
          <a:noFill/>
          <a:ln/>
        </p:spPr>
        <p:txBody>
          <a:bodyPr wrap="square" lIns="0" tIns="0" rIns="0" bIns="0" rtlCol="0" anchor="ctr"/>
          <a:lstStyle/>
          <a:p>
            <a:pPr marL="0" indent="0" algn="ctr">
              <a:buNone/>
            </a:pPr>
            <a:r>
              <a:rPr lang="en-US" sz="2200" b="1" dirty="0">
                <a:solidFill>
                  <a:srgbClr val="C9A84C"/>
                </a:solidFill>
              </a:rPr>
              <a:t>07</a:t>
            </a:r>
            <a:endParaRPr lang="en-US" sz="2200" dirty="0"/>
          </a:p>
        </p:txBody>
      </p:sp>
      <p:sp>
        <p:nvSpPr>
          <p:cNvPr id="37" name="Shape 35"/>
          <p:cNvSpPr/>
          <p:nvPr/>
        </p:nvSpPr>
        <p:spPr>
          <a:xfrm>
            <a:off x="1024128" y="4014216"/>
            <a:ext cx="22860" cy="640080"/>
          </a:xfrm>
          <a:prstGeom prst="rect">
            <a:avLst/>
          </a:prstGeom>
          <a:solidFill>
            <a:srgbClr val="22395A"/>
          </a:solidFill>
          <a:ln w="12700">
            <a:solidFill>
              <a:srgbClr val="22395A"/>
            </a:solidFill>
            <a:prstDash val="solid"/>
          </a:ln>
        </p:spPr>
        <p:txBody>
          <a:bodyPr/>
          <a:lstStyle/>
          <a:p>
            <a:endParaRPr lang="en-IN"/>
          </a:p>
        </p:txBody>
      </p:sp>
      <p:sp>
        <p:nvSpPr>
          <p:cNvPr id="38" name="Text 36"/>
          <p:cNvSpPr/>
          <p:nvPr/>
        </p:nvSpPr>
        <p:spPr>
          <a:xfrm>
            <a:off x="1115568" y="3950208"/>
            <a:ext cx="3337560" cy="274320"/>
          </a:xfrm>
          <a:prstGeom prst="rect">
            <a:avLst/>
          </a:prstGeom>
          <a:noFill/>
          <a:ln/>
        </p:spPr>
        <p:txBody>
          <a:bodyPr wrap="square" lIns="0" tIns="0" rIns="0" bIns="0" rtlCol="0" anchor="ctr"/>
          <a:lstStyle/>
          <a:p>
            <a:pPr marL="0" indent="0">
              <a:buNone/>
            </a:pPr>
            <a:r>
              <a:rPr lang="en-US" sz="1200" b="1" dirty="0">
                <a:solidFill>
                  <a:srgbClr val="FFFFFF"/>
                </a:solidFill>
              </a:rPr>
              <a:t>Strategic Recommendations</a:t>
            </a:r>
            <a:endParaRPr lang="en-US" sz="1200" dirty="0"/>
          </a:p>
        </p:txBody>
      </p:sp>
      <p:sp>
        <p:nvSpPr>
          <p:cNvPr id="39" name="Text 37"/>
          <p:cNvSpPr/>
          <p:nvPr/>
        </p:nvSpPr>
        <p:spPr>
          <a:xfrm>
            <a:off x="1115568" y="4242816"/>
            <a:ext cx="3337560" cy="457200"/>
          </a:xfrm>
          <a:prstGeom prst="rect">
            <a:avLst/>
          </a:prstGeom>
          <a:noFill/>
          <a:ln/>
        </p:spPr>
        <p:txBody>
          <a:bodyPr wrap="square" lIns="0" tIns="0" rIns="0" bIns="0" rtlCol="0" anchor="ctr"/>
          <a:lstStyle/>
          <a:p>
            <a:pPr marL="0" indent="0">
              <a:buNone/>
            </a:pPr>
            <a:r>
              <a:rPr lang="en-US" sz="950" dirty="0">
                <a:solidFill>
                  <a:srgbClr val="8DA2B8"/>
                </a:solidFill>
              </a:rPr>
              <a:t>₹1 Crore investment plan across 6 priority areas</a:t>
            </a:r>
            <a:endParaRPr lang="en-US" sz="950" dirty="0"/>
          </a:p>
        </p:txBody>
      </p:sp>
      <p:sp>
        <p:nvSpPr>
          <p:cNvPr id="40" name="Shape 38"/>
          <p:cNvSpPr/>
          <p:nvPr/>
        </p:nvSpPr>
        <p:spPr>
          <a:xfrm>
            <a:off x="4800600" y="3877056"/>
            <a:ext cx="4206240" cy="914400"/>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41" name="Text 39"/>
          <p:cNvSpPr/>
          <p:nvPr/>
        </p:nvSpPr>
        <p:spPr>
          <a:xfrm>
            <a:off x="4910328" y="3986784"/>
            <a:ext cx="502920" cy="658368"/>
          </a:xfrm>
          <a:prstGeom prst="rect">
            <a:avLst/>
          </a:prstGeom>
          <a:noFill/>
          <a:ln/>
        </p:spPr>
        <p:txBody>
          <a:bodyPr wrap="square" lIns="0" tIns="0" rIns="0" bIns="0" rtlCol="0" anchor="ctr"/>
          <a:lstStyle/>
          <a:p>
            <a:pPr marL="0" indent="0" algn="ctr">
              <a:buNone/>
            </a:pPr>
            <a:r>
              <a:rPr lang="en-US" sz="2200" b="1" dirty="0">
                <a:solidFill>
                  <a:srgbClr val="C9A84C"/>
                </a:solidFill>
              </a:rPr>
              <a:t>08</a:t>
            </a:r>
            <a:endParaRPr lang="en-US" sz="2200" dirty="0"/>
          </a:p>
        </p:txBody>
      </p:sp>
      <p:sp>
        <p:nvSpPr>
          <p:cNvPr id="42" name="Shape 40"/>
          <p:cNvSpPr/>
          <p:nvPr/>
        </p:nvSpPr>
        <p:spPr>
          <a:xfrm>
            <a:off x="5458968" y="4014216"/>
            <a:ext cx="22860" cy="640080"/>
          </a:xfrm>
          <a:prstGeom prst="rect">
            <a:avLst/>
          </a:prstGeom>
          <a:solidFill>
            <a:srgbClr val="22395A"/>
          </a:solidFill>
          <a:ln w="12700">
            <a:solidFill>
              <a:srgbClr val="22395A"/>
            </a:solidFill>
            <a:prstDash val="solid"/>
          </a:ln>
        </p:spPr>
        <p:txBody>
          <a:bodyPr/>
          <a:lstStyle/>
          <a:p>
            <a:endParaRPr lang="en-IN"/>
          </a:p>
        </p:txBody>
      </p:sp>
      <p:sp>
        <p:nvSpPr>
          <p:cNvPr id="43" name="Text 41"/>
          <p:cNvSpPr/>
          <p:nvPr/>
        </p:nvSpPr>
        <p:spPr>
          <a:xfrm>
            <a:off x="5550408" y="3950208"/>
            <a:ext cx="3337560" cy="274320"/>
          </a:xfrm>
          <a:prstGeom prst="rect">
            <a:avLst/>
          </a:prstGeom>
          <a:noFill/>
          <a:ln/>
        </p:spPr>
        <p:txBody>
          <a:bodyPr wrap="square" lIns="0" tIns="0" rIns="0" bIns="0" rtlCol="0" anchor="ctr"/>
          <a:lstStyle/>
          <a:p>
            <a:pPr marL="0" indent="0">
              <a:buNone/>
            </a:pPr>
            <a:r>
              <a:rPr lang="en-US" sz="1200" b="1" dirty="0">
                <a:solidFill>
                  <a:schemeClr val="bg1"/>
                </a:solidFill>
              </a:rPr>
              <a:t>Conclusion</a:t>
            </a:r>
          </a:p>
        </p:txBody>
      </p:sp>
      <p:sp>
        <p:nvSpPr>
          <p:cNvPr id="44" name="Text 42"/>
          <p:cNvSpPr/>
          <p:nvPr/>
        </p:nvSpPr>
        <p:spPr>
          <a:xfrm>
            <a:off x="5550408" y="4146804"/>
            <a:ext cx="3337560" cy="457200"/>
          </a:xfrm>
          <a:prstGeom prst="rect">
            <a:avLst/>
          </a:prstGeom>
          <a:noFill/>
          <a:ln/>
        </p:spPr>
        <p:txBody>
          <a:bodyPr wrap="square" lIns="0" tIns="0" rIns="0" bIns="0" rtlCol="0" anchor="ctr"/>
          <a:lstStyle/>
          <a:p>
            <a:pPr marL="0" indent="0">
              <a:buNone/>
            </a:pPr>
            <a:r>
              <a:rPr lang="en-US" sz="950" dirty="0">
                <a:solidFill>
                  <a:srgbClr val="8DA2B8"/>
                </a:solidFill>
              </a:rPr>
              <a:t>Interactive Excel dashboard, functions used, key takeaways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4" name="Text 2"/>
          <p:cNvSpPr/>
          <p:nvPr/>
        </p:nvSpPr>
        <p:spPr>
          <a:xfrm>
            <a:off x="766572" y="201168"/>
            <a:ext cx="7315200" cy="411480"/>
          </a:xfrm>
          <a:prstGeom prst="rect">
            <a:avLst/>
          </a:prstGeom>
          <a:noFill/>
          <a:ln/>
        </p:spPr>
        <p:txBody>
          <a:bodyPr wrap="square" lIns="0" tIns="0" rIns="0" bIns="0" rtlCol="0" anchor="ctr"/>
          <a:lstStyle/>
          <a:p>
            <a:pPr marL="0" indent="0">
              <a:buNone/>
            </a:pPr>
            <a:r>
              <a:rPr lang="en-US" sz="2400" b="1" dirty="0">
                <a:solidFill>
                  <a:srgbClr val="FFFFFF"/>
                </a:solidFill>
              </a:rPr>
              <a:t>Problem Statement</a:t>
            </a:r>
            <a:endParaRPr lang="en-US" sz="2400" dirty="0"/>
          </a:p>
        </p:txBody>
      </p:sp>
      <p:sp>
        <p:nvSpPr>
          <p:cNvPr id="5" name="Shape 3"/>
          <p:cNvSpPr/>
          <p:nvPr/>
        </p:nvSpPr>
        <p:spPr>
          <a:xfrm>
            <a:off x="320040" y="731520"/>
            <a:ext cx="7086600" cy="2011680"/>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6" name="Text 4"/>
          <p:cNvSpPr/>
          <p:nvPr/>
        </p:nvSpPr>
        <p:spPr>
          <a:xfrm>
            <a:off x="548640" y="868680"/>
            <a:ext cx="4754880" cy="320040"/>
          </a:xfrm>
          <a:prstGeom prst="rect">
            <a:avLst/>
          </a:prstGeom>
          <a:noFill/>
          <a:ln/>
        </p:spPr>
        <p:txBody>
          <a:bodyPr wrap="square" lIns="0" tIns="0" rIns="0" bIns="0" rtlCol="0" anchor="ctr"/>
          <a:lstStyle/>
          <a:p>
            <a:pPr marL="0" indent="0">
              <a:buNone/>
            </a:pPr>
            <a:r>
              <a:rPr lang="en-US" sz="1400" b="1" dirty="0">
                <a:solidFill>
                  <a:srgbClr val="C9A84C"/>
                </a:solidFill>
              </a:rPr>
              <a:t>Problem Statement</a:t>
            </a:r>
            <a:endParaRPr lang="en-US" sz="1400" dirty="0"/>
          </a:p>
        </p:txBody>
      </p:sp>
      <p:sp>
        <p:nvSpPr>
          <p:cNvPr id="7" name="Text 5"/>
          <p:cNvSpPr/>
          <p:nvPr/>
        </p:nvSpPr>
        <p:spPr>
          <a:xfrm>
            <a:off x="525779" y="1391193"/>
            <a:ext cx="6547757" cy="881743"/>
          </a:xfrm>
          <a:prstGeom prst="rect">
            <a:avLst/>
          </a:prstGeom>
          <a:noFill/>
          <a:ln/>
        </p:spPr>
        <p:txBody>
          <a:bodyPr wrap="square" lIns="0" tIns="0" rIns="0" bIns="0" rtlCol="0" anchor="ctr"/>
          <a:lstStyle/>
          <a:p>
            <a:r>
              <a:rPr lang="en-US" sz="1400" dirty="0">
                <a:solidFill>
                  <a:srgbClr val="E8EDF3"/>
                </a:solidFill>
              </a:rPr>
              <a:t>You are tasked with optimizing the call center operations for </a:t>
            </a:r>
            <a:r>
              <a:rPr lang="en-US" sz="1400" dirty="0" err="1">
                <a:solidFill>
                  <a:srgbClr val="E8EDF3"/>
                </a:solidFill>
              </a:rPr>
              <a:t>AstroSage</a:t>
            </a:r>
            <a:r>
              <a:rPr lang="en-US" sz="1400" dirty="0">
                <a:solidFill>
                  <a:srgbClr val="E8EDF3"/>
                </a:solidFill>
              </a:rPr>
              <a:t>, which has received a 1 crore investment. The goal is to determine how to allocate this investment to maximize operational efficiency, customer satisfaction, and profitability. This project will involve analyzing historical call data, performance metrics, and market trends to make informed decisions.</a:t>
            </a:r>
            <a:endParaRPr lang="en-US" sz="1400" dirty="0"/>
          </a:p>
        </p:txBody>
      </p:sp>
      <p:sp>
        <p:nvSpPr>
          <p:cNvPr id="8" name="Shape 6"/>
          <p:cNvSpPr/>
          <p:nvPr/>
        </p:nvSpPr>
        <p:spPr>
          <a:xfrm>
            <a:off x="365760" y="2999232"/>
            <a:ext cx="7040880" cy="1696865"/>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9" name="Text 7"/>
          <p:cNvSpPr/>
          <p:nvPr/>
        </p:nvSpPr>
        <p:spPr>
          <a:xfrm>
            <a:off x="548640" y="3090672"/>
            <a:ext cx="4754880" cy="320040"/>
          </a:xfrm>
          <a:prstGeom prst="rect">
            <a:avLst/>
          </a:prstGeom>
          <a:noFill/>
          <a:ln/>
        </p:spPr>
        <p:txBody>
          <a:bodyPr wrap="square" lIns="0" tIns="0" rIns="0" bIns="0" rtlCol="0" anchor="ctr"/>
          <a:lstStyle/>
          <a:p>
            <a:pPr marL="0" indent="0">
              <a:buNone/>
            </a:pPr>
            <a:r>
              <a:rPr lang="en-US" sz="1400" b="1" dirty="0">
                <a:solidFill>
                  <a:srgbClr val="C9A84C"/>
                </a:solidFill>
              </a:rPr>
              <a:t>Project Goal &amp; Scope</a:t>
            </a:r>
            <a:endParaRPr lang="en-US" sz="1400" dirty="0"/>
          </a:p>
        </p:txBody>
      </p:sp>
      <p:sp>
        <p:nvSpPr>
          <p:cNvPr id="10" name="Text 8"/>
          <p:cNvSpPr/>
          <p:nvPr/>
        </p:nvSpPr>
        <p:spPr>
          <a:xfrm>
            <a:off x="548640" y="3456432"/>
            <a:ext cx="6472646" cy="1004534"/>
          </a:xfrm>
          <a:prstGeom prst="rect">
            <a:avLst/>
          </a:prstGeom>
          <a:noFill/>
          <a:ln/>
        </p:spPr>
        <p:txBody>
          <a:bodyPr wrap="square" lIns="0" tIns="0" rIns="0" bIns="0" rtlCol="0" anchor="ctr"/>
          <a:lstStyle/>
          <a:p>
            <a:pPr marL="0" indent="0">
              <a:buNone/>
            </a:pPr>
            <a:r>
              <a:rPr lang="en-US" sz="1400" dirty="0">
                <a:solidFill>
                  <a:srgbClr val="E8EDF3"/>
                </a:solidFill>
              </a:rPr>
              <a:t>This project analyses 34 days of operational data (December 1, 2023 – January 3, 2024), covering 28,027 call records. The objective is to deliver a 360° view of call centre operations — addressing call volume trends, revenue performance, agent workload, and customer satisfaction — through an interactive Excel dashboard with slicers for real-time filtering.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0A2458EB-496B-2A92-D257-7F46A879B353}"/>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71849E0A-37CE-10B6-6891-AFBF17FA7638}"/>
              </a:ext>
            </a:extLst>
          </p:cNvPr>
          <p:cNvSpPr/>
          <p:nvPr/>
        </p:nvSpPr>
        <p:spPr>
          <a:xfrm>
            <a:off x="320040" y="196596"/>
            <a:ext cx="7315200" cy="411480"/>
          </a:xfrm>
          <a:prstGeom prst="rect">
            <a:avLst/>
          </a:prstGeom>
          <a:noFill/>
          <a:ln/>
        </p:spPr>
        <p:txBody>
          <a:bodyPr wrap="square" lIns="0" tIns="0" rIns="0" bIns="0" rtlCol="0" anchor="ctr"/>
          <a:lstStyle/>
          <a:p>
            <a:pPr marL="0" indent="0">
              <a:buNone/>
            </a:pPr>
            <a:r>
              <a:rPr lang="en-US" sz="2400" b="1" dirty="0">
                <a:solidFill>
                  <a:schemeClr val="bg1"/>
                </a:solidFill>
              </a:rPr>
              <a:t>Overview</a:t>
            </a:r>
          </a:p>
        </p:txBody>
      </p:sp>
      <p:sp>
        <p:nvSpPr>
          <p:cNvPr id="5" name="Shape 3">
            <a:extLst>
              <a:ext uri="{FF2B5EF4-FFF2-40B4-BE49-F238E27FC236}">
                <a16:creationId xmlns:a16="http://schemas.microsoft.com/office/drawing/2014/main" id="{7A03736A-84B9-F67E-2C1B-26290A4562D0}"/>
              </a:ext>
            </a:extLst>
          </p:cNvPr>
          <p:cNvSpPr/>
          <p:nvPr/>
        </p:nvSpPr>
        <p:spPr>
          <a:xfrm>
            <a:off x="320040" y="818147"/>
            <a:ext cx="8410074" cy="3282215"/>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pPr marL="285750" indent="-285750" algn="just">
              <a:lnSpc>
                <a:spcPct val="150000"/>
              </a:lnSpc>
              <a:buFont typeface="Arial" panose="020B0604020202020204" pitchFamily="34" charset="0"/>
              <a:buChar char="•"/>
            </a:pPr>
            <a:r>
              <a:rPr lang="en-IN" dirty="0" err="1">
                <a:solidFill>
                  <a:schemeClr val="bg1"/>
                </a:solidFill>
              </a:rPr>
              <a:t>Analyzed</a:t>
            </a:r>
            <a:r>
              <a:rPr lang="en-IN" dirty="0">
                <a:solidFill>
                  <a:schemeClr val="bg1"/>
                </a:solidFill>
              </a:rPr>
              <a:t> </a:t>
            </a:r>
            <a:r>
              <a:rPr lang="en-IN" dirty="0" err="1">
                <a:solidFill>
                  <a:schemeClr val="bg1"/>
                </a:solidFill>
              </a:rPr>
              <a:t>AstroSage's</a:t>
            </a:r>
            <a:r>
              <a:rPr lang="en-IN" dirty="0">
                <a:solidFill>
                  <a:schemeClr val="bg1"/>
                </a:solidFill>
              </a:rPr>
              <a:t> call </a:t>
            </a:r>
            <a:r>
              <a:rPr lang="en-IN" dirty="0" err="1">
                <a:solidFill>
                  <a:schemeClr val="bg1"/>
                </a:solidFill>
              </a:rPr>
              <a:t>center</a:t>
            </a:r>
            <a:r>
              <a:rPr lang="en-IN" dirty="0">
                <a:solidFill>
                  <a:schemeClr val="bg1"/>
                </a:solidFill>
              </a:rPr>
              <a:t> operations (Dec 2023 – Jan 2024).</a:t>
            </a:r>
          </a:p>
          <a:p>
            <a:pPr marL="285750" indent="-285750" algn="just">
              <a:lnSpc>
                <a:spcPct val="150000"/>
              </a:lnSpc>
              <a:buFont typeface="Arial" panose="020B0604020202020204" pitchFamily="34" charset="0"/>
              <a:buChar char="•"/>
            </a:pPr>
            <a:r>
              <a:rPr lang="en-IN" dirty="0">
                <a:solidFill>
                  <a:schemeClr val="bg1"/>
                </a:solidFill>
              </a:rPr>
              <a:t> Dataset includes 28,027 consultations, 131 astrologers, and 10,344 users across </a:t>
            </a:r>
            <a:r>
              <a:rPr lang="en-IN" dirty="0" err="1">
                <a:solidFill>
                  <a:schemeClr val="bg1"/>
                </a:solidFill>
              </a:rPr>
              <a:t>Gurucool</a:t>
            </a:r>
            <a:r>
              <a:rPr lang="en-IN" dirty="0">
                <a:solidFill>
                  <a:schemeClr val="bg1"/>
                </a:solidFill>
              </a:rPr>
              <a:t> and the App. </a:t>
            </a:r>
          </a:p>
          <a:p>
            <a:pPr marL="285750" indent="-285750" algn="just">
              <a:lnSpc>
                <a:spcPct val="150000"/>
              </a:lnSpc>
              <a:buFont typeface="Arial" panose="020B0604020202020204" pitchFamily="34" charset="0"/>
              <a:buChar char="•"/>
            </a:pPr>
            <a:r>
              <a:rPr lang="en-IN" dirty="0">
                <a:solidFill>
                  <a:schemeClr val="bg1"/>
                </a:solidFill>
              </a:rPr>
              <a:t>Performed analysis on cleaned and feature-engineered data with 36 attributes. </a:t>
            </a:r>
          </a:p>
          <a:p>
            <a:pPr marL="285750" indent="-285750" algn="just">
              <a:lnSpc>
                <a:spcPct val="150000"/>
              </a:lnSpc>
              <a:buFont typeface="Arial" panose="020B0604020202020204" pitchFamily="34" charset="0"/>
              <a:buChar char="•"/>
            </a:pPr>
            <a:r>
              <a:rPr lang="en-IN" dirty="0">
                <a:solidFill>
                  <a:schemeClr val="bg1"/>
                </a:solidFill>
              </a:rPr>
              <a:t>Evaluated call </a:t>
            </a:r>
            <a:r>
              <a:rPr lang="en-IN" dirty="0" err="1">
                <a:solidFill>
                  <a:schemeClr val="bg1"/>
                </a:solidFill>
              </a:rPr>
              <a:t>center</a:t>
            </a:r>
            <a:r>
              <a:rPr lang="en-IN" dirty="0">
                <a:solidFill>
                  <a:schemeClr val="bg1"/>
                </a:solidFill>
              </a:rPr>
              <a:t> performance, user engagement, and operational efficiency. </a:t>
            </a:r>
          </a:p>
          <a:p>
            <a:pPr marL="285750" indent="-285750" algn="just">
              <a:lnSpc>
                <a:spcPct val="150000"/>
              </a:lnSpc>
              <a:buFont typeface="Arial" panose="020B0604020202020204" pitchFamily="34" charset="0"/>
              <a:buChar char="•"/>
            </a:pPr>
            <a:r>
              <a:rPr lang="en-IN" dirty="0">
                <a:solidFill>
                  <a:schemeClr val="bg1"/>
                </a:solidFill>
              </a:rPr>
              <a:t>Identified operational bottlenecks, performance gaps, and revenue opportunities to improve guru utilization, customer satisfaction, and platform revenue.</a:t>
            </a:r>
          </a:p>
        </p:txBody>
      </p:sp>
    </p:spTree>
    <p:extLst>
      <p:ext uri="{BB962C8B-B14F-4D97-AF65-F5344CB8AC3E}">
        <p14:creationId xmlns:p14="http://schemas.microsoft.com/office/powerpoint/2010/main" val="1873451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4" name="Text 2"/>
          <p:cNvSpPr/>
          <p:nvPr/>
        </p:nvSpPr>
        <p:spPr>
          <a:xfrm>
            <a:off x="-731520" y="172556"/>
            <a:ext cx="5384292" cy="411480"/>
          </a:xfrm>
          <a:prstGeom prst="rect">
            <a:avLst/>
          </a:prstGeom>
          <a:noFill/>
          <a:ln/>
        </p:spPr>
        <p:txBody>
          <a:bodyPr wrap="square" lIns="0" tIns="0" rIns="0" bIns="0" rtlCol="0" anchor="ctr"/>
          <a:lstStyle/>
          <a:p>
            <a:pPr algn="ctr">
              <a:defRPr sz="1400" b="0" i="0" u="none" strike="noStrike" kern="1200" spc="0" baseline="0">
                <a:solidFill>
                  <a:prstClr val="white"/>
                </a:solidFill>
                <a:latin typeface="+mn-lt"/>
                <a:ea typeface="+mn-ea"/>
                <a:cs typeface="+mn-cs"/>
              </a:defRPr>
            </a:pPr>
            <a:r>
              <a:rPr lang="en-IN" sz="2400" dirty="0"/>
              <a:t>Daily Call Volume Trend</a:t>
            </a:r>
          </a:p>
        </p:txBody>
      </p:sp>
      <p:sp>
        <p:nvSpPr>
          <p:cNvPr id="21" name="Shape 18"/>
          <p:cNvSpPr/>
          <p:nvPr/>
        </p:nvSpPr>
        <p:spPr>
          <a:xfrm>
            <a:off x="5244735" y="798794"/>
            <a:ext cx="3540034" cy="2902567"/>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22" name="Text 19"/>
          <p:cNvSpPr/>
          <p:nvPr/>
        </p:nvSpPr>
        <p:spPr>
          <a:xfrm>
            <a:off x="5551714" y="940526"/>
            <a:ext cx="2926080" cy="292608"/>
          </a:xfrm>
          <a:prstGeom prst="rect">
            <a:avLst/>
          </a:prstGeom>
          <a:noFill/>
          <a:ln/>
        </p:spPr>
        <p:txBody>
          <a:bodyPr wrap="square" lIns="0" tIns="0" rIns="0" bIns="0" rtlCol="0" anchor="ctr"/>
          <a:lstStyle/>
          <a:p>
            <a:pPr marL="0" indent="0">
              <a:buNone/>
            </a:pPr>
            <a:r>
              <a:rPr lang="en-US" sz="1200" b="1" dirty="0">
                <a:solidFill>
                  <a:srgbClr val="C9A84C"/>
                </a:solidFill>
              </a:rPr>
              <a:t>Key Findings</a:t>
            </a:r>
            <a:endParaRPr lang="en-US" sz="1200" dirty="0"/>
          </a:p>
        </p:txBody>
      </p:sp>
      <p:sp>
        <p:nvSpPr>
          <p:cNvPr id="34" name="Text 31"/>
          <p:cNvSpPr/>
          <p:nvPr/>
        </p:nvSpPr>
        <p:spPr>
          <a:xfrm>
            <a:off x="5336175" y="941179"/>
            <a:ext cx="3357155" cy="2902567"/>
          </a:xfrm>
          <a:prstGeom prst="rect">
            <a:avLst/>
          </a:prstGeom>
          <a:noFill/>
          <a:ln/>
        </p:spPr>
        <p:txBody>
          <a:bodyPr wrap="square" lIns="0" tIns="0" rIns="0" bIns="0" rtlCol="0" anchor="ctr"/>
          <a:lstStyle/>
          <a:p>
            <a:pPr marL="171450" indent="-171450">
              <a:buFont typeface="Arial" panose="020B0604020202020204" pitchFamily="34" charset="0"/>
              <a:buChar char="•"/>
            </a:pPr>
            <a:r>
              <a:rPr lang="en-IN" sz="1400" dirty="0">
                <a:solidFill>
                  <a:schemeClr val="bg1"/>
                </a:solidFill>
              </a:rPr>
              <a:t>Peak call volume reached 1,324 calls on 15 Dec 2023, well above the daily average of 824 calls. </a:t>
            </a:r>
          </a:p>
          <a:p>
            <a:pPr marL="171450" indent="-171450">
              <a:buFont typeface="Arial" panose="020B0604020202020204" pitchFamily="34" charset="0"/>
              <a:buChar char="•"/>
            </a:pPr>
            <a:r>
              <a:rPr lang="en-IN" sz="1400" dirty="0">
                <a:solidFill>
                  <a:schemeClr val="bg1"/>
                </a:solidFill>
              </a:rPr>
              <a:t>Daily call volume showed high fluctuations with frequent spikes and drops. </a:t>
            </a:r>
          </a:p>
          <a:p>
            <a:pPr marL="171450" indent="-171450">
              <a:buFont typeface="Arial" panose="020B0604020202020204" pitchFamily="34" charset="0"/>
              <a:buChar char="•"/>
            </a:pPr>
            <a:r>
              <a:rPr lang="en-IN" sz="1400" dirty="0">
                <a:solidFill>
                  <a:schemeClr val="bg1"/>
                </a:solidFill>
              </a:rPr>
              <a:t>Despite fluctuations, most days recorded 800–1,100 calls, indicating consistent user demand</a:t>
            </a:r>
            <a:endParaRPr lang="en-US" sz="1400" dirty="0">
              <a:solidFill>
                <a:schemeClr val="bg1"/>
              </a:solidFill>
            </a:endParaRPr>
          </a:p>
        </p:txBody>
      </p:sp>
      <p:graphicFrame>
        <p:nvGraphicFramePr>
          <p:cNvPr id="36" name="Chart 35">
            <a:extLst>
              <a:ext uri="{FF2B5EF4-FFF2-40B4-BE49-F238E27FC236}">
                <a16:creationId xmlns:a16="http://schemas.microsoft.com/office/drawing/2014/main" id="{217E487A-4C02-4866-55F6-CF2768F31121}"/>
              </a:ext>
            </a:extLst>
          </p:cNvPr>
          <p:cNvGraphicFramePr>
            <a:graphicFrameLocks/>
          </p:cNvGraphicFramePr>
          <p:nvPr>
            <p:extLst>
              <p:ext uri="{D42A27DB-BD31-4B8C-83A1-F6EECF244321}">
                <p14:modId xmlns:p14="http://schemas.microsoft.com/office/powerpoint/2010/main" val="2628929474"/>
              </p:ext>
            </p:extLst>
          </p:nvPr>
        </p:nvGraphicFramePr>
        <p:xfrm>
          <a:off x="359230" y="1642001"/>
          <a:ext cx="4659145" cy="265854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5CE05B17-A2C5-A903-9C31-17D71C0C3B13}"/>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5B917C64-8D3A-D976-1D93-1C924D03E6E8}"/>
              </a:ext>
            </a:extLst>
          </p:cNvPr>
          <p:cNvSpPr/>
          <p:nvPr/>
        </p:nvSpPr>
        <p:spPr>
          <a:xfrm>
            <a:off x="-300448" y="209877"/>
            <a:ext cx="7315200" cy="411480"/>
          </a:xfrm>
          <a:prstGeom prst="rect">
            <a:avLst/>
          </a:prstGeom>
          <a:noFill/>
          <a:ln/>
        </p:spPr>
        <p:txBody>
          <a:bodyPr wrap="square" lIns="0" tIns="0" rIns="0" bIns="0" rtlCol="0" anchor="ctr"/>
          <a:lstStyle/>
          <a:p>
            <a:pPr lvl="0" algn="ctr">
              <a:defRPr sz="1400" b="0" i="0" u="none" strike="noStrike" kern="1200" spc="0" baseline="0">
                <a:solidFill>
                  <a:srgbClr val="000000">
                    <a:lumMod val="65000"/>
                    <a:lumOff val="35000"/>
                  </a:srgbClr>
                </a:solidFill>
                <a:latin typeface="+mn-lt"/>
                <a:ea typeface="+mn-ea"/>
                <a:cs typeface="+mn-cs"/>
              </a:defRPr>
            </a:pPr>
            <a:r>
              <a:rPr lang="en-US" sz="2400" b="1" dirty="0">
                <a:solidFill>
                  <a:schemeClr val="bg2"/>
                </a:solidFill>
              </a:rPr>
              <a:t>Average Customer Satisfaction Score by Month</a:t>
            </a:r>
          </a:p>
        </p:txBody>
      </p:sp>
      <p:sp>
        <p:nvSpPr>
          <p:cNvPr id="21" name="Shape 18">
            <a:extLst>
              <a:ext uri="{FF2B5EF4-FFF2-40B4-BE49-F238E27FC236}">
                <a16:creationId xmlns:a16="http://schemas.microsoft.com/office/drawing/2014/main" id="{4E9B45AA-71A8-4E7A-AF33-C2EA0F0C80AE}"/>
              </a:ext>
            </a:extLst>
          </p:cNvPr>
          <p:cNvSpPr/>
          <p:nvPr/>
        </p:nvSpPr>
        <p:spPr>
          <a:xfrm>
            <a:off x="5153296" y="1048187"/>
            <a:ext cx="3540034" cy="2840419"/>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22" name="Text 19">
            <a:extLst>
              <a:ext uri="{FF2B5EF4-FFF2-40B4-BE49-F238E27FC236}">
                <a16:creationId xmlns:a16="http://schemas.microsoft.com/office/drawing/2014/main" id="{489F1828-E8B4-DEC3-C556-6E6FC46A576D}"/>
              </a:ext>
            </a:extLst>
          </p:cNvPr>
          <p:cNvSpPr/>
          <p:nvPr/>
        </p:nvSpPr>
        <p:spPr>
          <a:xfrm>
            <a:off x="5460272" y="1227954"/>
            <a:ext cx="2926080" cy="292608"/>
          </a:xfrm>
          <a:prstGeom prst="rect">
            <a:avLst/>
          </a:prstGeom>
          <a:noFill/>
          <a:ln/>
        </p:spPr>
        <p:txBody>
          <a:bodyPr wrap="square" lIns="0" tIns="0" rIns="0" bIns="0" rtlCol="0" anchor="ctr"/>
          <a:lstStyle/>
          <a:p>
            <a:pPr marL="0" indent="0">
              <a:buNone/>
            </a:pPr>
            <a:r>
              <a:rPr lang="en-US" sz="1200" b="1" dirty="0">
                <a:solidFill>
                  <a:srgbClr val="C9A84C"/>
                </a:solidFill>
              </a:rPr>
              <a:t>Key Findings</a:t>
            </a:r>
            <a:endParaRPr lang="en-US" sz="1200" dirty="0"/>
          </a:p>
        </p:txBody>
      </p:sp>
      <p:sp>
        <p:nvSpPr>
          <p:cNvPr id="34" name="Text 31">
            <a:extLst>
              <a:ext uri="{FF2B5EF4-FFF2-40B4-BE49-F238E27FC236}">
                <a16:creationId xmlns:a16="http://schemas.microsoft.com/office/drawing/2014/main" id="{FC5B0FF3-2612-D03A-7CC1-4CFD19522BD5}"/>
              </a:ext>
            </a:extLst>
          </p:cNvPr>
          <p:cNvSpPr/>
          <p:nvPr/>
        </p:nvSpPr>
        <p:spPr>
          <a:xfrm>
            <a:off x="5244735" y="899595"/>
            <a:ext cx="3357155" cy="3520440"/>
          </a:xfrm>
          <a:prstGeom prst="rect">
            <a:avLst/>
          </a:prstGeom>
          <a:noFill/>
          <a:ln/>
        </p:spPr>
        <p:txBody>
          <a:bodyPr wrap="square" lIns="0" tIns="0" rIns="0" bIns="0" rtlCol="0" anchor="ctr"/>
          <a:lstStyle/>
          <a:p>
            <a:pPr marL="171450" indent="-171450" algn="just">
              <a:buFont typeface="Arial" panose="020B0604020202020204" pitchFamily="34" charset="0"/>
              <a:buChar char="•"/>
            </a:pPr>
            <a:r>
              <a:rPr lang="en-IN" sz="1400" dirty="0">
                <a:solidFill>
                  <a:schemeClr val="bg1"/>
                </a:solidFill>
              </a:rPr>
              <a:t>December recorded a higher average satisfaction score (2.95/8) than January (2.68/8). </a:t>
            </a:r>
          </a:p>
          <a:p>
            <a:pPr marL="171450" indent="-171450" algn="just">
              <a:buFont typeface="Arial" panose="020B0604020202020204" pitchFamily="34" charset="0"/>
              <a:buChar char="•"/>
            </a:pPr>
            <a:r>
              <a:rPr lang="en-IN" sz="1400" dirty="0">
                <a:solidFill>
                  <a:schemeClr val="bg1"/>
                </a:solidFill>
              </a:rPr>
              <a:t>Satisfaction declined by ~9% from December to January. </a:t>
            </a:r>
          </a:p>
          <a:p>
            <a:pPr marL="171450" indent="-171450" algn="just">
              <a:buFont typeface="Arial" panose="020B0604020202020204" pitchFamily="34" charset="0"/>
              <a:buChar char="•"/>
            </a:pPr>
            <a:r>
              <a:rPr lang="en-IN" sz="1400" dirty="0">
                <a:solidFill>
                  <a:schemeClr val="bg1"/>
                </a:solidFill>
              </a:rPr>
              <a:t>Despite 17% more consultations in December, it maintained better satisfaction, indicating that higher volume did not reduce service quality</a:t>
            </a:r>
            <a:r>
              <a:rPr lang="en-IN" sz="1400" dirty="0"/>
              <a:t>.</a:t>
            </a:r>
            <a:endParaRPr lang="en-US" sz="1400" dirty="0">
              <a:solidFill>
                <a:schemeClr val="bg1"/>
              </a:solidFill>
            </a:endParaRPr>
          </a:p>
        </p:txBody>
      </p:sp>
      <p:graphicFrame>
        <p:nvGraphicFramePr>
          <p:cNvPr id="2" name="Chart 1">
            <a:extLst>
              <a:ext uri="{FF2B5EF4-FFF2-40B4-BE49-F238E27FC236}">
                <a16:creationId xmlns:a16="http://schemas.microsoft.com/office/drawing/2014/main" id="{41DD9E33-FD15-AEE7-8A5E-87ECED5D0767}"/>
              </a:ext>
            </a:extLst>
          </p:cNvPr>
          <p:cNvGraphicFramePr>
            <a:graphicFrameLocks/>
          </p:cNvGraphicFramePr>
          <p:nvPr>
            <p:extLst>
              <p:ext uri="{D42A27DB-BD31-4B8C-83A1-F6EECF244321}">
                <p14:modId xmlns:p14="http://schemas.microsoft.com/office/powerpoint/2010/main" val="3636289364"/>
              </p:ext>
            </p:extLst>
          </p:nvPr>
        </p:nvGraphicFramePr>
        <p:xfrm>
          <a:off x="280398" y="1048187"/>
          <a:ext cx="4494077" cy="356300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40575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C4654040-A178-C7ED-E7A2-C01E6A148F1D}"/>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3AD1D7A-1287-7633-E4B4-AC2F4463FDD5}"/>
              </a:ext>
            </a:extLst>
          </p:cNvPr>
          <p:cNvSpPr/>
          <p:nvPr/>
        </p:nvSpPr>
        <p:spPr>
          <a:xfrm>
            <a:off x="-425630" y="217932"/>
            <a:ext cx="5581322" cy="411480"/>
          </a:xfrm>
          <a:prstGeom prst="rect">
            <a:avLst/>
          </a:prstGeom>
          <a:noFill/>
          <a:ln/>
        </p:spPr>
        <p:txBody>
          <a:bodyPr wrap="square" lIns="0" tIns="0" rIns="0" bIns="0" rtlCol="0" anchor="ctr"/>
          <a:lstStyle/>
          <a:p>
            <a:pPr algn="ctr">
              <a:defRPr sz="1400" b="0" i="0" u="none" strike="noStrike" kern="1200" spc="0" baseline="0">
                <a:solidFill>
                  <a:prstClr val="black">
                    <a:lumMod val="65000"/>
                    <a:lumOff val="35000"/>
                  </a:prstClr>
                </a:solidFill>
                <a:latin typeface="+mn-lt"/>
                <a:ea typeface="+mn-ea"/>
                <a:cs typeface="+mn-cs"/>
              </a:defRPr>
            </a:pPr>
            <a:r>
              <a:rPr lang="en-IN" sz="2400" b="1" dirty="0">
                <a:solidFill>
                  <a:schemeClr val="bg2"/>
                </a:solidFill>
              </a:rPr>
              <a:t>Hourly Call Volume Analysis</a:t>
            </a:r>
          </a:p>
        </p:txBody>
      </p:sp>
      <p:sp>
        <p:nvSpPr>
          <p:cNvPr id="21" name="Shape 18">
            <a:extLst>
              <a:ext uri="{FF2B5EF4-FFF2-40B4-BE49-F238E27FC236}">
                <a16:creationId xmlns:a16="http://schemas.microsoft.com/office/drawing/2014/main" id="{EADE024F-80DD-F9FC-DB63-86E21F077C40}"/>
              </a:ext>
            </a:extLst>
          </p:cNvPr>
          <p:cNvSpPr/>
          <p:nvPr/>
        </p:nvSpPr>
        <p:spPr>
          <a:xfrm>
            <a:off x="5244736" y="1093362"/>
            <a:ext cx="3540034" cy="2872246"/>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22" name="Text 19">
            <a:extLst>
              <a:ext uri="{FF2B5EF4-FFF2-40B4-BE49-F238E27FC236}">
                <a16:creationId xmlns:a16="http://schemas.microsoft.com/office/drawing/2014/main" id="{9E2BBFD9-8E5F-958C-6791-A898C54FBEB0}"/>
              </a:ext>
            </a:extLst>
          </p:cNvPr>
          <p:cNvSpPr/>
          <p:nvPr/>
        </p:nvSpPr>
        <p:spPr>
          <a:xfrm>
            <a:off x="5551714" y="1278511"/>
            <a:ext cx="2926080" cy="292608"/>
          </a:xfrm>
          <a:prstGeom prst="rect">
            <a:avLst/>
          </a:prstGeom>
          <a:noFill/>
          <a:ln/>
        </p:spPr>
        <p:txBody>
          <a:bodyPr wrap="square" lIns="0" tIns="0" rIns="0" bIns="0" rtlCol="0" anchor="ctr"/>
          <a:lstStyle/>
          <a:p>
            <a:pPr marL="0" indent="0">
              <a:buNone/>
            </a:pPr>
            <a:r>
              <a:rPr lang="en-US" sz="1200" b="1" dirty="0">
                <a:solidFill>
                  <a:srgbClr val="C9A84C"/>
                </a:solidFill>
              </a:rPr>
              <a:t>Key Findings</a:t>
            </a:r>
            <a:endParaRPr lang="en-US" sz="1200" dirty="0"/>
          </a:p>
        </p:txBody>
      </p:sp>
      <p:sp>
        <p:nvSpPr>
          <p:cNvPr id="34" name="Text 31">
            <a:extLst>
              <a:ext uri="{FF2B5EF4-FFF2-40B4-BE49-F238E27FC236}">
                <a16:creationId xmlns:a16="http://schemas.microsoft.com/office/drawing/2014/main" id="{D62FC5DA-2087-FB2E-A1E2-A96A9A5B8003}"/>
              </a:ext>
            </a:extLst>
          </p:cNvPr>
          <p:cNvSpPr/>
          <p:nvPr/>
        </p:nvSpPr>
        <p:spPr>
          <a:xfrm>
            <a:off x="5336175" y="940526"/>
            <a:ext cx="3357155" cy="3520440"/>
          </a:xfrm>
          <a:prstGeom prst="rect">
            <a:avLst/>
          </a:prstGeom>
          <a:noFill/>
          <a:ln/>
        </p:spPr>
        <p:txBody>
          <a:bodyPr wrap="square" lIns="0" tIns="0" rIns="0" bIns="0" rtlCol="0" anchor="ctr"/>
          <a:lstStyle/>
          <a:p>
            <a:pPr marL="171450" indent="-171450">
              <a:buFont typeface="Arial" panose="020B0604020202020204" pitchFamily="34" charset="0"/>
              <a:buChar char="•"/>
            </a:pPr>
            <a:r>
              <a:rPr lang="en-IN" sz="1400" dirty="0">
                <a:solidFill>
                  <a:schemeClr val="bg1"/>
                </a:solidFill>
              </a:rPr>
              <a:t>8:00 AM recorded the highest call volume (1,875 calls), with consistently high demand from 8 AM–4 PM.</a:t>
            </a:r>
          </a:p>
          <a:p>
            <a:pPr marL="171450" indent="-171450">
              <a:buFont typeface="Arial" panose="020B0604020202020204" pitchFamily="34" charset="0"/>
              <a:buChar char="•"/>
            </a:pPr>
            <a:r>
              <a:rPr lang="en-IN" sz="1400" dirty="0">
                <a:solidFill>
                  <a:schemeClr val="bg1"/>
                </a:solidFill>
              </a:rPr>
              <a:t> Call volume declined sharply after 6 PM, dropping below 500 calls by 9 PM.</a:t>
            </a:r>
          </a:p>
          <a:p>
            <a:pPr marL="171450" indent="-171450">
              <a:buFont typeface="Arial" panose="020B0604020202020204" pitchFamily="34" charset="0"/>
              <a:buChar char="•"/>
            </a:pPr>
            <a:r>
              <a:rPr lang="en-IN" sz="1400" dirty="0">
                <a:solidFill>
                  <a:schemeClr val="bg1"/>
                </a:solidFill>
              </a:rPr>
              <a:t>Overnight hours (12–2 AM) recorded the lowest call volumes, highlighting an opportunity to optimize staffing during off-peak hours..</a:t>
            </a:r>
            <a:endParaRPr lang="en-US" sz="1400" dirty="0">
              <a:solidFill>
                <a:schemeClr val="bg1"/>
              </a:solidFill>
            </a:endParaRPr>
          </a:p>
        </p:txBody>
      </p:sp>
      <p:graphicFrame>
        <p:nvGraphicFramePr>
          <p:cNvPr id="3" name="Chart 2">
            <a:extLst>
              <a:ext uri="{FF2B5EF4-FFF2-40B4-BE49-F238E27FC236}">
                <a16:creationId xmlns:a16="http://schemas.microsoft.com/office/drawing/2014/main" id="{9258FA3A-104D-4CA8-B8AE-6EA230C11A35}"/>
              </a:ext>
            </a:extLst>
          </p:cNvPr>
          <p:cNvGraphicFramePr>
            <a:graphicFrameLocks/>
          </p:cNvGraphicFramePr>
          <p:nvPr>
            <p:extLst>
              <p:ext uri="{D42A27DB-BD31-4B8C-83A1-F6EECF244321}">
                <p14:modId xmlns:p14="http://schemas.microsoft.com/office/powerpoint/2010/main" val="3082024184"/>
              </p:ext>
            </p:extLst>
          </p:nvPr>
        </p:nvGraphicFramePr>
        <p:xfrm>
          <a:off x="450670" y="1093362"/>
          <a:ext cx="4487090" cy="337660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02090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86830D0F-C9F2-490F-4D50-97878624CEDA}"/>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737C7F69-C065-D393-10CE-068ACF7DFA85}"/>
              </a:ext>
            </a:extLst>
          </p:cNvPr>
          <p:cNvSpPr/>
          <p:nvPr/>
        </p:nvSpPr>
        <p:spPr>
          <a:xfrm>
            <a:off x="-388620" y="277586"/>
            <a:ext cx="3227832" cy="411480"/>
          </a:xfrm>
          <a:prstGeom prst="rect">
            <a:avLst/>
          </a:prstGeom>
          <a:noFill/>
          <a:ln/>
        </p:spPr>
        <p:txBody>
          <a:bodyPr wrap="square" lIns="0" tIns="0" rIns="0" bIns="0" rtlCol="0" anchor="ctr"/>
          <a:lstStyle/>
          <a:p>
            <a:pPr algn="ctr">
              <a:defRPr sz="1400" b="0" i="0" u="none" strike="noStrike" kern="1200" spc="0" baseline="0">
                <a:solidFill>
                  <a:prstClr val="black">
                    <a:lumMod val="65000"/>
                    <a:lumOff val="35000"/>
                  </a:prstClr>
                </a:solidFill>
                <a:latin typeface="+mn-lt"/>
                <a:ea typeface="+mn-ea"/>
                <a:cs typeface="+mn-cs"/>
              </a:defRPr>
            </a:pPr>
            <a:r>
              <a:rPr lang="en-IN" sz="2400" b="1" dirty="0">
                <a:solidFill>
                  <a:schemeClr val="bg2"/>
                </a:solidFill>
              </a:rPr>
              <a:t>Top 10 Gurus</a:t>
            </a:r>
            <a:endParaRPr lang="en-US" sz="2400" b="1" dirty="0">
              <a:solidFill>
                <a:schemeClr val="bg2"/>
              </a:solidFill>
            </a:endParaRPr>
          </a:p>
        </p:txBody>
      </p:sp>
      <p:sp>
        <p:nvSpPr>
          <p:cNvPr id="21" name="Shape 18">
            <a:extLst>
              <a:ext uri="{FF2B5EF4-FFF2-40B4-BE49-F238E27FC236}">
                <a16:creationId xmlns:a16="http://schemas.microsoft.com/office/drawing/2014/main" id="{C919975A-0E05-BC35-D86B-CB46CAA76352}"/>
              </a:ext>
            </a:extLst>
          </p:cNvPr>
          <p:cNvSpPr/>
          <p:nvPr/>
        </p:nvSpPr>
        <p:spPr>
          <a:xfrm>
            <a:off x="5244737" y="812133"/>
            <a:ext cx="3540034" cy="3153475"/>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22" name="Text 19">
            <a:extLst>
              <a:ext uri="{FF2B5EF4-FFF2-40B4-BE49-F238E27FC236}">
                <a16:creationId xmlns:a16="http://schemas.microsoft.com/office/drawing/2014/main" id="{E1DC5A76-4181-6FBF-D714-A4526D77EF1B}"/>
              </a:ext>
            </a:extLst>
          </p:cNvPr>
          <p:cNvSpPr/>
          <p:nvPr/>
        </p:nvSpPr>
        <p:spPr>
          <a:xfrm>
            <a:off x="5551714" y="940526"/>
            <a:ext cx="2926080" cy="292608"/>
          </a:xfrm>
          <a:prstGeom prst="rect">
            <a:avLst/>
          </a:prstGeom>
          <a:noFill/>
          <a:ln/>
        </p:spPr>
        <p:txBody>
          <a:bodyPr wrap="square" lIns="0" tIns="0" rIns="0" bIns="0" rtlCol="0" anchor="ctr"/>
          <a:lstStyle/>
          <a:p>
            <a:pPr marL="0" indent="0">
              <a:buNone/>
            </a:pPr>
            <a:r>
              <a:rPr lang="en-US" sz="1200" b="1" dirty="0">
                <a:solidFill>
                  <a:srgbClr val="C9A84C"/>
                </a:solidFill>
              </a:rPr>
              <a:t>Key Findings</a:t>
            </a:r>
            <a:endParaRPr lang="en-US" sz="1200" dirty="0"/>
          </a:p>
        </p:txBody>
      </p:sp>
      <p:sp>
        <p:nvSpPr>
          <p:cNvPr id="34" name="Text 31">
            <a:extLst>
              <a:ext uri="{FF2B5EF4-FFF2-40B4-BE49-F238E27FC236}">
                <a16:creationId xmlns:a16="http://schemas.microsoft.com/office/drawing/2014/main" id="{CD5AC1F8-C168-2531-FA94-7B40F8ECC51F}"/>
              </a:ext>
            </a:extLst>
          </p:cNvPr>
          <p:cNvSpPr/>
          <p:nvPr/>
        </p:nvSpPr>
        <p:spPr>
          <a:xfrm>
            <a:off x="5336175" y="826066"/>
            <a:ext cx="3572690" cy="3216545"/>
          </a:xfrm>
          <a:prstGeom prst="rect">
            <a:avLst/>
          </a:prstGeom>
          <a:noFill/>
          <a:ln/>
        </p:spPr>
        <p:txBody>
          <a:bodyPr wrap="square" lIns="0" tIns="0" rIns="0" bIns="0" rtlCol="0" anchor="ctr"/>
          <a:lstStyle/>
          <a:p>
            <a:pPr marL="171450" indent="-171450">
              <a:buFont typeface="Arial" panose="020B0604020202020204" pitchFamily="34" charset="0"/>
              <a:buChar char="•"/>
            </a:pPr>
            <a:r>
              <a:rPr lang="en-IN" sz="1400" dirty="0">
                <a:solidFill>
                  <a:schemeClr val="bg1"/>
                </a:solidFill>
              </a:rPr>
              <a:t>Top 3 gurus (Astro Krishaa, Astro Sakthi, and Astro Shalini) handled 15.5% of total consultations, indicating workload concentration. </a:t>
            </a:r>
          </a:p>
          <a:p>
            <a:pPr marL="171450" indent="-171450">
              <a:buFont typeface="Arial" panose="020B0604020202020204" pitchFamily="34" charset="0"/>
              <a:buChar char="•"/>
            </a:pPr>
            <a:r>
              <a:rPr lang="en-IN" sz="1400" dirty="0">
                <a:solidFill>
                  <a:schemeClr val="bg1"/>
                </a:solidFill>
              </a:rPr>
              <a:t>Consultation volume and revenue are not directly correlated.</a:t>
            </a:r>
          </a:p>
          <a:p>
            <a:pPr marL="171450" indent="-171450">
              <a:buFont typeface="Arial" panose="020B0604020202020204" pitchFamily="34" charset="0"/>
              <a:buChar char="•"/>
            </a:pPr>
            <a:r>
              <a:rPr lang="en-IN" sz="1400" dirty="0">
                <a:solidFill>
                  <a:schemeClr val="bg1"/>
                </a:solidFill>
              </a:rPr>
              <a:t>Astro Ruchi delivered the best overall performance with 777 consultations, the highest rating (4.44/8), and ₹19,993 revenue.</a:t>
            </a:r>
            <a:endParaRPr lang="en-US" sz="1400" dirty="0">
              <a:solidFill>
                <a:schemeClr val="bg1"/>
              </a:solidFill>
            </a:endParaRPr>
          </a:p>
        </p:txBody>
      </p:sp>
      <p:graphicFrame>
        <p:nvGraphicFramePr>
          <p:cNvPr id="2" name="Chart 1">
            <a:extLst>
              <a:ext uri="{FF2B5EF4-FFF2-40B4-BE49-F238E27FC236}">
                <a16:creationId xmlns:a16="http://schemas.microsoft.com/office/drawing/2014/main" id="{415EE951-BFE6-06AD-231A-1148A8AABFC5}"/>
              </a:ext>
            </a:extLst>
          </p:cNvPr>
          <p:cNvGraphicFramePr>
            <a:graphicFrameLocks/>
          </p:cNvGraphicFramePr>
          <p:nvPr>
            <p:extLst>
              <p:ext uri="{D42A27DB-BD31-4B8C-83A1-F6EECF244321}">
                <p14:modId xmlns:p14="http://schemas.microsoft.com/office/powerpoint/2010/main" val="2865452882"/>
              </p:ext>
            </p:extLst>
          </p:nvPr>
        </p:nvGraphicFramePr>
        <p:xfrm>
          <a:off x="167153" y="812132"/>
          <a:ext cx="4770608" cy="364230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07087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195FD11A-2463-ED19-AF0C-AB9568C126E0}"/>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9410BD3-5C56-49E1-E947-C4B75B7F35C1}"/>
              </a:ext>
            </a:extLst>
          </p:cNvPr>
          <p:cNvSpPr/>
          <p:nvPr/>
        </p:nvSpPr>
        <p:spPr>
          <a:xfrm>
            <a:off x="137160" y="224681"/>
            <a:ext cx="4027932" cy="411480"/>
          </a:xfrm>
          <a:prstGeom prst="rect">
            <a:avLst/>
          </a:prstGeom>
          <a:noFill/>
          <a:ln/>
        </p:spPr>
        <p:txBody>
          <a:bodyPr wrap="square" lIns="0" tIns="0" rIns="0" bIns="0" rtlCol="0" anchor="ctr"/>
          <a:lstStyle/>
          <a:p>
            <a:pPr algn="ctr">
              <a:defRPr sz="1400" b="0" i="0" u="none" strike="noStrike" kern="1200" spc="0" baseline="0">
                <a:solidFill>
                  <a:prstClr val="black">
                    <a:lumMod val="65000"/>
                    <a:lumOff val="35000"/>
                  </a:prstClr>
                </a:solidFill>
                <a:latin typeface="+mn-lt"/>
                <a:ea typeface="+mn-ea"/>
                <a:cs typeface="+mn-cs"/>
              </a:defRPr>
            </a:pPr>
            <a:r>
              <a:rPr lang="en-IN" sz="2400" b="1" dirty="0">
                <a:solidFill>
                  <a:schemeClr val="bg2"/>
                </a:solidFill>
              </a:rPr>
              <a:t>Call Status Distribution</a:t>
            </a:r>
            <a:endParaRPr lang="en-US" sz="2400" b="1" dirty="0">
              <a:solidFill>
                <a:schemeClr val="bg2"/>
              </a:solidFill>
            </a:endParaRPr>
          </a:p>
        </p:txBody>
      </p:sp>
      <p:sp>
        <p:nvSpPr>
          <p:cNvPr id="21" name="Shape 18">
            <a:extLst>
              <a:ext uri="{FF2B5EF4-FFF2-40B4-BE49-F238E27FC236}">
                <a16:creationId xmlns:a16="http://schemas.microsoft.com/office/drawing/2014/main" id="{16A72FE6-A785-170B-6A6D-8946AA938927}"/>
              </a:ext>
            </a:extLst>
          </p:cNvPr>
          <p:cNvSpPr/>
          <p:nvPr/>
        </p:nvSpPr>
        <p:spPr>
          <a:xfrm>
            <a:off x="5244736" y="1058780"/>
            <a:ext cx="3540034" cy="2666198"/>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22" name="Text 19">
            <a:extLst>
              <a:ext uri="{FF2B5EF4-FFF2-40B4-BE49-F238E27FC236}">
                <a16:creationId xmlns:a16="http://schemas.microsoft.com/office/drawing/2014/main" id="{7BD95A30-9F46-DC9A-4307-BF7F25F7D0D5}"/>
              </a:ext>
            </a:extLst>
          </p:cNvPr>
          <p:cNvSpPr/>
          <p:nvPr/>
        </p:nvSpPr>
        <p:spPr>
          <a:xfrm>
            <a:off x="5551714" y="1325536"/>
            <a:ext cx="2926080" cy="292608"/>
          </a:xfrm>
          <a:prstGeom prst="rect">
            <a:avLst/>
          </a:prstGeom>
          <a:noFill/>
          <a:ln/>
        </p:spPr>
        <p:txBody>
          <a:bodyPr wrap="square" lIns="0" tIns="0" rIns="0" bIns="0" rtlCol="0" anchor="ctr"/>
          <a:lstStyle/>
          <a:p>
            <a:pPr marL="0" indent="0">
              <a:buNone/>
            </a:pPr>
            <a:r>
              <a:rPr lang="en-US" sz="1200" b="1" dirty="0">
                <a:solidFill>
                  <a:srgbClr val="C9A84C"/>
                </a:solidFill>
              </a:rPr>
              <a:t>Key Findings</a:t>
            </a:r>
            <a:endParaRPr lang="en-US" sz="1200" dirty="0"/>
          </a:p>
        </p:txBody>
      </p:sp>
      <p:sp>
        <p:nvSpPr>
          <p:cNvPr id="34" name="Text 31">
            <a:extLst>
              <a:ext uri="{FF2B5EF4-FFF2-40B4-BE49-F238E27FC236}">
                <a16:creationId xmlns:a16="http://schemas.microsoft.com/office/drawing/2014/main" id="{459844BE-3433-0A3E-8E38-A759FEB0F749}"/>
              </a:ext>
            </a:extLst>
          </p:cNvPr>
          <p:cNvSpPr/>
          <p:nvPr/>
        </p:nvSpPr>
        <p:spPr>
          <a:xfrm>
            <a:off x="5336175" y="813381"/>
            <a:ext cx="3357155" cy="3520440"/>
          </a:xfrm>
          <a:prstGeom prst="rect">
            <a:avLst/>
          </a:prstGeom>
          <a:noFill/>
          <a:ln/>
        </p:spPr>
        <p:txBody>
          <a:bodyPr wrap="square" lIns="0" tIns="0" rIns="0" bIns="0" rtlCol="0" anchor="ctr"/>
          <a:lstStyle/>
          <a:p>
            <a:pPr marL="171450" indent="-171450">
              <a:buFont typeface="Arial" panose="020B0604020202020204" pitchFamily="34" charset="0"/>
              <a:buChar char="•"/>
            </a:pPr>
            <a:r>
              <a:rPr lang="en-IN" sz="1400" dirty="0">
                <a:solidFill>
                  <a:schemeClr val="bg1"/>
                </a:solidFill>
              </a:rPr>
              <a:t>Only 40.4% of calls were successfully completed. </a:t>
            </a:r>
          </a:p>
          <a:p>
            <a:pPr marL="171450" indent="-171450">
              <a:buFont typeface="Arial" panose="020B0604020202020204" pitchFamily="34" charset="0"/>
              <a:buChar char="•"/>
            </a:pPr>
            <a:r>
              <a:rPr lang="en-IN" sz="1400" dirty="0">
                <a:solidFill>
                  <a:schemeClr val="bg1"/>
                </a:solidFill>
              </a:rPr>
              <a:t>No-answer (20.2%) and busy (14.9%) were the top reasons for failed calls.</a:t>
            </a:r>
          </a:p>
          <a:p>
            <a:pPr marL="171450" indent="-171450">
              <a:buFont typeface="Arial" panose="020B0604020202020204" pitchFamily="34" charset="0"/>
              <a:buChar char="•"/>
            </a:pPr>
            <a:r>
              <a:rPr lang="en-IN" sz="1400" dirty="0">
                <a:solidFill>
                  <a:schemeClr val="bg1"/>
                </a:solidFill>
              </a:rPr>
              <a:t> 5,088 missed calls indicate a strong opportunity to improve revenue through callbacks and better guru availability.</a:t>
            </a:r>
            <a:endParaRPr lang="en-US" sz="1400" dirty="0">
              <a:solidFill>
                <a:schemeClr val="bg1"/>
              </a:solidFill>
            </a:endParaRPr>
          </a:p>
        </p:txBody>
      </p:sp>
      <p:graphicFrame>
        <p:nvGraphicFramePr>
          <p:cNvPr id="2" name="Chart 1">
            <a:extLst>
              <a:ext uri="{FF2B5EF4-FFF2-40B4-BE49-F238E27FC236}">
                <a16:creationId xmlns:a16="http://schemas.microsoft.com/office/drawing/2014/main" id="{9AEA920F-2B7C-5992-2A5A-6D0017237698}"/>
              </a:ext>
            </a:extLst>
          </p:cNvPr>
          <p:cNvGraphicFramePr>
            <a:graphicFrameLocks/>
          </p:cNvGraphicFramePr>
          <p:nvPr>
            <p:extLst>
              <p:ext uri="{D42A27DB-BD31-4B8C-83A1-F6EECF244321}">
                <p14:modId xmlns:p14="http://schemas.microsoft.com/office/powerpoint/2010/main" val="118852971"/>
              </p:ext>
            </p:extLst>
          </p:nvPr>
        </p:nvGraphicFramePr>
        <p:xfrm>
          <a:off x="-456113" y="550298"/>
          <a:ext cx="5593080" cy="40187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3240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0271575F-1B85-DDC4-6DB2-0F3361CAD838}"/>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528C7926-4336-FDC5-71A5-9E40B5611BEA}"/>
              </a:ext>
            </a:extLst>
          </p:cNvPr>
          <p:cNvSpPr/>
          <p:nvPr/>
        </p:nvSpPr>
        <p:spPr>
          <a:xfrm>
            <a:off x="507492" y="376864"/>
            <a:ext cx="7315200" cy="411480"/>
          </a:xfrm>
          <a:prstGeom prst="rect">
            <a:avLst/>
          </a:prstGeom>
          <a:noFill/>
          <a:ln/>
        </p:spPr>
        <p:txBody>
          <a:bodyPr wrap="square" lIns="0" tIns="0" rIns="0" bIns="0" rtlCol="0" anchor="ctr"/>
          <a:lstStyle/>
          <a:p>
            <a:r>
              <a:rPr lang="en-US" sz="2400" dirty="0">
                <a:solidFill>
                  <a:schemeClr val="bg1"/>
                </a:solidFill>
              </a:rPr>
              <a:t>Customer Rating Distribution</a:t>
            </a:r>
          </a:p>
        </p:txBody>
      </p:sp>
      <p:sp>
        <p:nvSpPr>
          <p:cNvPr id="21" name="Shape 18">
            <a:extLst>
              <a:ext uri="{FF2B5EF4-FFF2-40B4-BE49-F238E27FC236}">
                <a16:creationId xmlns:a16="http://schemas.microsoft.com/office/drawing/2014/main" id="{E5406D97-2FF9-A3C6-276A-AAA5721140A3}"/>
              </a:ext>
            </a:extLst>
          </p:cNvPr>
          <p:cNvSpPr/>
          <p:nvPr/>
        </p:nvSpPr>
        <p:spPr>
          <a:xfrm>
            <a:off x="5244736" y="1150254"/>
            <a:ext cx="3540034" cy="2646397"/>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22" name="Text 19">
            <a:extLst>
              <a:ext uri="{FF2B5EF4-FFF2-40B4-BE49-F238E27FC236}">
                <a16:creationId xmlns:a16="http://schemas.microsoft.com/office/drawing/2014/main" id="{16094B6C-7F08-0614-9AAA-118FAD205556}"/>
              </a:ext>
            </a:extLst>
          </p:cNvPr>
          <p:cNvSpPr/>
          <p:nvPr/>
        </p:nvSpPr>
        <p:spPr>
          <a:xfrm>
            <a:off x="5551712" y="1197830"/>
            <a:ext cx="2926080" cy="292608"/>
          </a:xfrm>
          <a:prstGeom prst="rect">
            <a:avLst/>
          </a:prstGeom>
          <a:noFill/>
          <a:ln/>
        </p:spPr>
        <p:txBody>
          <a:bodyPr wrap="square" lIns="0" tIns="0" rIns="0" bIns="0" rtlCol="0" anchor="ctr"/>
          <a:lstStyle/>
          <a:p>
            <a:pPr marL="0" indent="0">
              <a:buNone/>
            </a:pPr>
            <a:r>
              <a:rPr lang="en-US" sz="1200" b="1" dirty="0">
                <a:solidFill>
                  <a:srgbClr val="C9A84C"/>
                </a:solidFill>
              </a:rPr>
              <a:t>Key Findings</a:t>
            </a:r>
            <a:endParaRPr lang="en-US" sz="1200" dirty="0"/>
          </a:p>
        </p:txBody>
      </p:sp>
      <p:sp>
        <p:nvSpPr>
          <p:cNvPr id="34" name="Text 31">
            <a:extLst>
              <a:ext uri="{FF2B5EF4-FFF2-40B4-BE49-F238E27FC236}">
                <a16:creationId xmlns:a16="http://schemas.microsoft.com/office/drawing/2014/main" id="{2D9B779D-1C02-0648-B632-1F94A5EC8643}"/>
              </a:ext>
            </a:extLst>
          </p:cNvPr>
          <p:cNvSpPr/>
          <p:nvPr/>
        </p:nvSpPr>
        <p:spPr>
          <a:xfrm>
            <a:off x="5336175" y="1501541"/>
            <a:ext cx="3357155" cy="2184936"/>
          </a:xfrm>
          <a:prstGeom prst="rect">
            <a:avLst/>
          </a:prstGeom>
          <a:noFill/>
          <a:ln/>
        </p:spPr>
        <p:txBody>
          <a:bodyPr wrap="square" lIns="0" tIns="0" rIns="0" bIns="0" rtlCol="0" anchor="ctr"/>
          <a:lstStyle/>
          <a:p>
            <a:pPr marL="171450" indent="-171450">
              <a:buFont typeface="Arial" panose="020B0604020202020204" pitchFamily="34" charset="0"/>
              <a:buChar char="•"/>
            </a:pPr>
            <a:r>
              <a:rPr lang="en-IN" sz="1400" dirty="0">
                <a:solidFill>
                  <a:schemeClr val="bg1"/>
                </a:solidFill>
              </a:rPr>
              <a:t>Rating 0 (25.9%) was the most common customer rating. </a:t>
            </a:r>
          </a:p>
          <a:p>
            <a:pPr marL="171450" indent="-171450">
              <a:buFont typeface="Arial" panose="020B0604020202020204" pitchFamily="34" charset="0"/>
              <a:buChar char="•"/>
            </a:pPr>
            <a:r>
              <a:rPr lang="en-IN" sz="1400" dirty="0">
                <a:solidFill>
                  <a:schemeClr val="bg1"/>
                </a:solidFill>
              </a:rPr>
              <a:t>The high number of 0 ratings likely indicates unrated sessions, not poor service. </a:t>
            </a:r>
          </a:p>
          <a:p>
            <a:pPr marL="171450" indent="-171450">
              <a:buFont typeface="Arial" panose="020B0604020202020204" pitchFamily="34" charset="0"/>
              <a:buChar char="•"/>
            </a:pPr>
            <a:r>
              <a:rPr lang="en-IN" sz="1400" dirty="0">
                <a:solidFill>
                  <a:schemeClr val="bg1"/>
                </a:solidFill>
              </a:rPr>
              <a:t>First-time users reported higher satisfaction than repeat users, highlighting a decline in user experience over time.</a:t>
            </a:r>
            <a:br>
              <a:rPr lang="en-IN" sz="1400" dirty="0">
                <a:solidFill>
                  <a:schemeClr val="bg1"/>
                </a:solidFill>
              </a:rPr>
            </a:br>
            <a:endParaRPr lang="en-US" sz="1400" dirty="0">
              <a:solidFill>
                <a:schemeClr val="bg1"/>
              </a:solidFill>
            </a:endParaRPr>
          </a:p>
        </p:txBody>
      </p:sp>
      <p:graphicFrame>
        <p:nvGraphicFramePr>
          <p:cNvPr id="2" name="Chart 1">
            <a:extLst>
              <a:ext uri="{FF2B5EF4-FFF2-40B4-BE49-F238E27FC236}">
                <a16:creationId xmlns:a16="http://schemas.microsoft.com/office/drawing/2014/main" id="{E39DB05E-E23C-5B1D-C487-2BD793D48975}"/>
              </a:ext>
            </a:extLst>
          </p:cNvPr>
          <p:cNvGraphicFramePr>
            <a:graphicFrameLocks/>
          </p:cNvGraphicFramePr>
          <p:nvPr>
            <p:extLst>
              <p:ext uri="{D42A27DB-BD31-4B8C-83A1-F6EECF244321}">
                <p14:modId xmlns:p14="http://schemas.microsoft.com/office/powerpoint/2010/main" val="2816739172"/>
              </p:ext>
            </p:extLst>
          </p:nvPr>
        </p:nvGraphicFramePr>
        <p:xfrm>
          <a:off x="264732" y="1024559"/>
          <a:ext cx="4588120" cy="348212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56726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7E4FF59B-DFDB-7B78-81B5-14668DC23B41}"/>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E12E36ED-5F8A-B571-8A14-712D3D171C3C}"/>
              </a:ext>
            </a:extLst>
          </p:cNvPr>
          <p:cNvSpPr/>
          <p:nvPr/>
        </p:nvSpPr>
        <p:spPr>
          <a:xfrm>
            <a:off x="499872" y="343336"/>
            <a:ext cx="7315200" cy="411480"/>
          </a:xfrm>
          <a:prstGeom prst="rect">
            <a:avLst/>
          </a:prstGeom>
          <a:noFill/>
          <a:ln/>
        </p:spPr>
        <p:txBody>
          <a:bodyPr wrap="square" lIns="0" tIns="0" rIns="0" bIns="0" rtlCol="0" anchor="ctr"/>
          <a:lstStyle/>
          <a:p>
            <a:r>
              <a:rPr lang="en-IN" sz="2400" b="1" dirty="0">
                <a:solidFill>
                  <a:schemeClr val="bg2"/>
                </a:solidFill>
              </a:rPr>
              <a:t>Website Distribution</a:t>
            </a:r>
            <a:endParaRPr lang="en-US" sz="2400" b="1" dirty="0">
              <a:solidFill>
                <a:schemeClr val="bg2"/>
              </a:solidFill>
            </a:endParaRPr>
          </a:p>
        </p:txBody>
      </p:sp>
      <p:sp>
        <p:nvSpPr>
          <p:cNvPr id="21" name="Shape 18">
            <a:extLst>
              <a:ext uri="{FF2B5EF4-FFF2-40B4-BE49-F238E27FC236}">
                <a16:creationId xmlns:a16="http://schemas.microsoft.com/office/drawing/2014/main" id="{E1BDDBB2-E08C-2108-4C4C-526A45325162}"/>
              </a:ext>
            </a:extLst>
          </p:cNvPr>
          <p:cNvSpPr/>
          <p:nvPr/>
        </p:nvSpPr>
        <p:spPr>
          <a:xfrm>
            <a:off x="5153296" y="799448"/>
            <a:ext cx="3769724" cy="3031408"/>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22" name="Text 19">
            <a:extLst>
              <a:ext uri="{FF2B5EF4-FFF2-40B4-BE49-F238E27FC236}">
                <a16:creationId xmlns:a16="http://schemas.microsoft.com/office/drawing/2014/main" id="{173FE13B-E6AA-765D-D0E7-EA1A7D9B7538}"/>
              </a:ext>
            </a:extLst>
          </p:cNvPr>
          <p:cNvSpPr/>
          <p:nvPr/>
        </p:nvSpPr>
        <p:spPr>
          <a:xfrm>
            <a:off x="5575118" y="1226287"/>
            <a:ext cx="2926080" cy="292608"/>
          </a:xfrm>
          <a:prstGeom prst="rect">
            <a:avLst/>
          </a:prstGeom>
          <a:noFill/>
          <a:ln/>
        </p:spPr>
        <p:txBody>
          <a:bodyPr wrap="square" lIns="0" tIns="0" rIns="0" bIns="0" rtlCol="0" anchor="ctr"/>
          <a:lstStyle/>
          <a:p>
            <a:pPr marL="0" indent="0">
              <a:buNone/>
            </a:pPr>
            <a:r>
              <a:rPr lang="en-US" sz="1200" b="1" dirty="0">
                <a:solidFill>
                  <a:srgbClr val="C9A84C"/>
                </a:solidFill>
              </a:rPr>
              <a:t>Key Findings</a:t>
            </a:r>
            <a:endParaRPr lang="en-US" sz="1200" dirty="0"/>
          </a:p>
        </p:txBody>
      </p:sp>
      <p:sp>
        <p:nvSpPr>
          <p:cNvPr id="34" name="Text 31">
            <a:extLst>
              <a:ext uri="{FF2B5EF4-FFF2-40B4-BE49-F238E27FC236}">
                <a16:creationId xmlns:a16="http://schemas.microsoft.com/office/drawing/2014/main" id="{50130512-A57E-B3C6-C129-4DA6AE8F3C11}"/>
              </a:ext>
            </a:extLst>
          </p:cNvPr>
          <p:cNvSpPr/>
          <p:nvPr/>
        </p:nvSpPr>
        <p:spPr>
          <a:xfrm>
            <a:off x="5336175" y="1622954"/>
            <a:ext cx="3357155" cy="2044271"/>
          </a:xfrm>
          <a:prstGeom prst="rect">
            <a:avLst/>
          </a:prstGeom>
          <a:noFill/>
          <a:ln/>
        </p:spPr>
        <p:txBody>
          <a:bodyPr wrap="square" lIns="0" tIns="0" rIns="0" bIns="0" rtlCol="0" anchor="ctr"/>
          <a:lstStyle/>
          <a:p>
            <a:pPr marL="285750" indent="-285750">
              <a:buFont typeface="Arial" panose="020B0604020202020204" pitchFamily="34" charset="0"/>
              <a:buChar char="•"/>
            </a:pPr>
            <a:r>
              <a:rPr lang="en-IN" sz="1400" dirty="0" err="1">
                <a:solidFill>
                  <a:schemeClr val="bg1"/>
                </a:solidFill>
              </a:rPr>
              <a:t>Gurucool</a:t>
            </a:r>
            <a:r>
              <a:rPr lang="en-IN" sz="1400" dirty="0">
                <a:solidFill>
                  <a:schemeClr val="bg1"/>
                </a:solidFill>
              </a:rPr>
              <a:t> accounted for 72.2% of sessions and 78.1% of total revenue. </a:t>
            </a:r>
          </a:p>
          <a:p>
            <a:pPr marL="285750" indent="-285750">
              <a:buFont typeface="Arial" panose="020B0604020202020204" pitchFamily="34" charset="0"/>
              <a:buChar char="•"/>
            </a:pPr>
            <a:r>
              <a:rPr lang="en-IN" sz="1400" dirty="0">
                <a:solidFill>
                  <a:schemeClr val="bg1"/>
                </a:solidFill>
              </a:rPr>
              <a:t>Both platforms recorded similar customer satisfaction (</a:t>
            </a:r>
            <a:r>
              <a:rPr lang="en-IN" sz="1400" dirty="0" err="1">
                <a:solidFill>
                  <a:schemeClr val="bg1"/>
                </a:solidFill>
              </a:rPr>
              <a:t>Gurucool</a:t>
            </a:r>
            <a:r>
              <a:rPr lang="en-IN" sz="1400" dirty="0">
                <a:solidFill>
                  <a:schemeClr val="bg1"/>
                </a:solidFill>
              </a:rPr>
              <a:t> 2.92 vs App 2.98). </a:t>
            </a:r>
          </a:p>
          <a:p>
            <a:pPr marL="285750" indent="-285750">
              <a:buFont typeface="Arial" panose="020B0604020202020204" pitchFamily="34" charset="0"/>
              <a:buChar char="•"/>
            </a:pPr>
            <a:r>
              <a:rPr lang="en-IN" sz="1400" dirty="0">
                <a:solidFill>
                  <a:schemeClr val="bg1"/>
                </a:solidFill>
              </a:rPr>
              <a:t>The App has monetization potential, indicating opportunities to increase revenue. </a:t>
            </a:r>
          </a:p>
          <a:p>
            <a:br>
              <a:rPr lang="en-IN" sz="1000" dirty="0"/>
            </a:br>
            <a:endParaRPr lang="en-US" sz="950" dirty="0"/>
          </a:p>
        </p:txBody>
      </p:sp>
      <p:graphicFrame>
        <p:nvGraphicFramePr>
          <p:cNvPr id="3" name="Chart 2">
            <a:extLst>
              <a:ext uri="{FF2B5EF4-FFF2-40B4-BE49-F238E27FC236}">
                <a16:creationId xmlns:a16="http://schemas.microsoft.com/office/drawing/2014/main" id="{340F10F9-5D69-21BB-B664-7658DEC9F287}"/>
              </a:ext>
            </a:extLst>
          </p:cNvPr>
          <p:cNvGraphicFramePr>
            <a:graphicFrameLocks/>
          </p:cNvGraphicFramePr>
          <p:nvPr>
            <p:extLst>
              <p:ext uri="{D42A27DB-BD31-4B8C-83A1-F6EECF244321}">
                <p14:modId xmlns:p14="http://schemas.microsoft.com/office/powerpoint/2010/main" val="1691501958"/>
              </p:ext>
            </p:extLst>
          </p:nvPr>
        </p:nvGraphicFramePr>
        <p:xfrm>
          <a:off x="0" y="1374378"/>
          <a:ext cx="4991804" cy="285194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424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EF932CE2-CF56-05DC-B61D-9245E646846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A453FB1B-4B39-0C53-76B6-DEC8261F748F}"/>
              </a:ext>
            </a:extLst>
          </p:cNvPr>
          <p:cNvSpPr/>
          <p:nvPr/>
        </p:nvSpPr>
        <p:spPr>
          <a:xfrm>
            <a:off x="86868" y="387967"/>
            <a:ext cx="4485132" cy="411480"/>
          </a:xfrm>
          <a:prstGeom prst="rect">
            <a:avLst/>
          </a:prstGeom>
          <a:noFill/>
          <a:ln/>
        </p:spPr>
        <p:txBody>
          <a:bodyPr wrap="square" lIns="0" tIns="0" rIns="0" bIns="0" rtlCol="0" anchor="ctr"/>
          <a:lstStyle/>
          <a:p>
            <a:pPr algn="ctr">
              <a:defRPr sz="1400" b="0" i="0" u="none" strike="noStrike" kern="1200" spc="0" baseline="0">
                <a:solidFill>
                  <a:prstClr val="black">
                    <a:lumMod val="65000"/>
                    <a:lumOff val="35000"/>
                  </a:prstClr>
                </a:solidFill>
                <a:latin typeface="+mn-lt"/>
                <a:ea typeface="+mn-ea"/>
                <a:cs typeface="+mn-cs"/>
              </a:defRPr>
            </a:pPr>
            <a:r>
              <a:rPr lang="en-IN" sz="2400" b="1" dirty="0">
                <a:solidFill>
                  <a:schemeClr val="bg2"/>
                </a:solidFill>
              </a:rPr>
              <a:t>Revenue by Consultation Type</a:t>
            </a:r>
            <a:endParaRPr lang="en-US" sz="2400" b="1" dirty="0">
              <a:solidFill>
                <a:schemeClr val="bg2"/>
              </a:solidFill>
            </a:endParaRPr>
          </a:p>
        </p:txBody>
      </p:sp>
      <p:sp>
        <p:nvSpPr>
          <p:cNvPr id="21" name="Shape 18">
            <a:extLst>
              <a:ext uri="{FF2B5EF4-FFF2-40B4-BE49-F238E27FC236}">
                <a16:creationId xmlns:a16="http://schemas.microsoft.com/office/drawing/2014/main" id="{111962F3-62E0-9FCD-16BE-110BC6F3280A}"/>
              </a:ext>
            </a:extLst>
          </p:cNvPr>
          <p:cNvSpPr/>
          <p:nvPr/>
        </p:nvSpPr>
        <p:spPr>
          <a:xfrm>
            <a:off x="5244736" y="1233134"/>
            <a:ext cx="3540034" cy="2308964"/>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22" name="Text 19">
            <a:extLst>
              <a:ext uri="{FF2B5EF4-FFF2-40B4-BE49-F238E27FC236}">
                <a16:creationId xmlns:a16="http://schemas.microsoft.com/office/drawing/2014/main" id="{D5EAD0F5-554A-210B-9D9E-C6B94C3040E1}"/>
              </a:ext>
            </a:extLst>
          </p:cNvPr>
          <p:cNvSpPr/>
          <p:nvPr/>
        </p:nvSpPr>
        <p:spPr>
          <a:xfrm>
            <a:off x="5647967" y="1459376"/>
            <a:ext cx="2926080" cy="292608"/>
          </a:xfrm>
          <a:prstGeom prst="rect">
            <a:avLst/>
          </a:prstGeom>
          <a:noFill/>
          <a:ln/>
        </p:spPr>
        <p:txBody>
          <a:bodyPr wrap="square" lIns="0" tIns="0" rIns="0" bIns="0" rtlCol="0" anchor="ctr"/>
          <a:lstStyle/>
          <a:p>
            <a:pPr marL="0" indent="0">
              <a:buNone/>
            </a:pPr>
            <a:r>
              <a:rPr lang="en-US" sz="1200" b="1" dirty="0">
                <a:solidFill>
                  <a:srgbClr val="C9A84C"/>
                </a:solidFill>
              </a:rPr>
              <a:t>Key Findings</a:t>
            </a:r>
            <a:endParaRPr lang="en-US" sz="1200" dirty="0"/>
          </a:p>
        </p:txBody>
      </p:sp>
      <p:sp>
        <p:nvSpPr>
          <p:cNvPr id="34" name="Text 31">
            <a:extLst>
              <a:ext uri="{FF2B5EF4-FFF2-40B4-BE49-F238E27FC236}">
                <a16:creationId xmlns:a16="http://schemas.microsoft.com/office/drawing/2014/main" id="{E96E3CCE-12FD-3353-0B3F-451CD7E67A7B}"/>
              </a:ext>
            </a:extLst>
          </p:cNvPr>
          <p:cNvSpPr/>
          <p:nvPr/>
        </p:nvSpPr>
        <p:spPr>
          <a:xfrm>
            <a:off x="5336175" y="1070284"/>
            <a:ext cx="3357155" cy="3366962"/>
          </a:xfrm>
          <a:prstGeom prst="rect">
            <a:avLst/>
          </a:prstGeom>
          <a:noFill/>
          <a:ln/>
        </p:spPr>
        <p:txBody>
          <a:bodyPr wrap="square" lIns="0" tIns="0" rIns="0" bIns="0" rtlCol="0" anchor="ctr"/>
          <a:lstStyle/>
          <a:p>
            <a:pPr marL="285750" indent="-285750">
              <a:buFont typeface="Arial" panose="020B0604020202020204" pitchFamily="34" charset="0"/>
              <a:buChar char="•"/>
            </a:pPr>
            <a:r>
              <a:rPr lang="en-IN" sz="1400" dirty="0">
                <a:solidFill>
                  <a:schemeClr val="bg1"/>
                </a:solidFill>
              </a:rPr>
              <a:t>Calls generated 78.7% of total revenue, despite accounting for only 30.4% of sessions. </a:t>
            </a:r>
          </a:p>
          <a:p>
            <a:pPr marL="285750" indent="-285750">
              <a:buFont typeface="Arial" panose="020B0604020202020204" pitchFamily="34" charset="0"/>
              <a:buChar char="•"/>
            </a:pPr>
            <a:r>
              <a:rPr lang="en-IN" sz="1400" dirty="0">
                <a:solidFill>
                  <a:schemeClr val="bg1"/>
                </a:solidFill>
              </a:rPr>
              <a:t>Chats made up 69.6% of sessions but contributed only 21.3% of revenue. </a:t>
            </a:r>
          </a:p>
          <a:p>
            <a:pPr marL="285750" indent="-285750">
              <a:buFont typeface="Arial" panose="020B0604020202020204" pitchFamily="34" charset="0"/>
              <a:buChar char="•"/>
            </a:pPr>
            <a:r>
              <a:rPr lang="en-IN" sz="1400" dirty="0">
                <a:solidFill>
                  <a:schemeClr val="bg1"/>
                </a:solidFill>
              </a:rPr>
              <a:t>Converting more chat users to calls can significantly increase platform revenue. </a:t>
            </a:r>
          </a:p>
          <a:p>
            <a:pPr marL="171450" indent="-171450">
              <a:buFont typeface="Arial" panose="020B0604020202020204" pitchFamily="34" charset="0"/>
              <a:buChar char="•"/>
            </a:pPr>
            <a:br>
              <a:rPr lang="en-IN" sz="1000" dirty="0"/>
            </a:br>
            <a:endParaRPr lang="en-US" sz="950" dirty="0"/>
          </a:p>
        </p:txBody>
      </p:sp>
      <p:graphicFrame>
        <p:nvGraphicFramePr>
          <p:cNvPr id="2" name="Chart 1">
            <a:extLst>
              <a:ext uri="{FF2B5EF4-FFF2-40B4-BE49-F238E27FC236}">
                <a16:creationId xmlns:a16="http://schemas.microsoft.com/office/drawing/2014/main" id="{EC65BEFA-1856-EBE1-3421-E1D3B50B9AF1}"/>
              </a:ext>
            </a:extLst>
          </p:cNvPr>
          <p:cNvGraphicFramePr>
            <a:graphicFrameLocks/>
          </p:cNvGraphicFramePr>
          <p:nvPr>
            <p:extLst>
              <p:ext uri="{D42A27DB-BD31-4B8C-83A1-F6EECF244321}">
                <p14:modId xmlns:p14="http://schemas.microsoft.com/office/powerpoint/2010/main" val="1878604268"/>
              </p:ext>
            </p:extLst>
          </p:nvPr>
        </p:nvGraphicFramePr>
        <p:xfrm>
          <a:off x="231624" y="1070285"/>
          <a:ext cx="4614696" cy="354021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83208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FF7AF8DA-8CE0-6374-51BB-AD224D754EF8}"/>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953510F-92C2-32C0-A061-1B19A5D863B4}"/>
              </a:ext>
            </a:extLst>
          </p:cNvPr>
          <p:cNvSpPr/>
          <p:nvPr/>
        </p:nvSpPr>
        <p:spPr>
          <a:xfrm>
            <a:off x="-1359408" y="219456"/>
            <a:ext cx="7315200" cy="411480"/>
          </a:xfrm>
          <a:prstGeom prst="rect">
            <a:avLst/>
          </a:prstGeom>
          <a:noFill/>
          <a:ln/>
        </p:spPr>
        <p:txBody>
          <a:bodyPr wrap="square" lIns="0" tIns="0" rIns="0" bIns="0" rtlCol="0" anchor="ctr"/>
          <a:lstStyle/>
          <a:p>
            <a:pPr algn="ctr">
              <a:defRPr sz="1400" b="0" i="0" u="none" strike="noStrike" kern="1200" spc="0" baseline="0">
                <a:solidFill>
                  <a:prstClr val="black">
                    <a:lumMod val="65000"/>
                    <a:lumOff val="35000"/>
                  </a:prstClr>
                </a:solidFill>
                <a:latin typeface="+mn-lt"/>
                <a:ea typeface="+mn-ea"/>
                <a:cs typeface="+mn-cs"/>
              </a:defRPr>
            </a:pPr>
            <a:r>
              <a:rPr lang="en-IN" sz="2400" b="1" dirty="0">
                <a:solidFill>
                  <a:schemeClr val="bg2"/>
                </a:solidFill>
              </a:rPr>
              <a:t>Rating-wise Guru Distribution</a:t>
            </a:r>
            <a:endParaRPr lang="en-US" sz="2400" b="1" dirty="0">
              <a:solidFill>
                <a:schemeClr val="bg2"/>
              </a:solidFill>
            </a:endParaRPr>
          </a:p>
        </p:txBody>
      </p:sp>
      <p:sp>
        <p:nvSpPr>
          <p:cNvPr id="21" name="Shape 18">
            <a:extLst>
              <a:ext uri="{FF2B5EF4-FFF2-40B4-BE49-F238E27FC236}">
                <a16:creationId xmlns:a16="http://schemas.microsoft.com/office/drawing/2014/main" id="{279EF28C-C15C-F56C-3A52-632F95439A3B}"/>
              </a:ext>
            </a:extLst>
          </p:cNvPr>
          <p:cNvSpPr/>
          <p:nvPr/>
        </p:nvSpPr>
        <p:spPr>
          <a:xfrm>
            <a:off x="5244735" y="852787"/>
            <a:ext cx="3540034" cy="2410177"/>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22" name="Text 19">
            <a:extLst>
              <a:ext uri="{FF2B5EF4-FFF2-40B4-BE49-F238E27FC236}">
                <a16:creationId xmlns:a16="http://schemas.microsoft.com/office/drawing/2014/main" id="{2ED4F82C-DC77-43D6-8417-55B97CFF7768}"/>
              </a:ext>
            </a:extLst>
          </p:cNvPr>
          <p:cNvSpPr/>
          <p:nvPr/>
        </p:nvSpPr>
        <p:spPr>
          <a:xfrm>
            <a:off x="5551714" y="940526"/>
            <a:ext cx="2926080" cy="292608"/>
          </a:xfrm>
          <a:prstGeom prst="rect">
            <a:avLst/>
          </a:prstGeom>
          <a:noFill/>
          <a:ln/>
        </p:spPr>
        <p:txBody>
          <a:bodyPr wrap="square" lIns="0" tIns="0" rIns="0" bIns="0" rtlCol="0" anchor="ctr"/>
          <a:lstStyle/>
          <a:p>
            <a:pPr marL="0" indent="0">
              <a:buNone/>
            </a:pPr>
            <a:r>
              <a:rPr lang="en-US" sz="1200" b="1" dirty="0">
                <a:solidFill>
                  <a:srgbClr val="C9A84C"/>
                </a:solidFill>
              </a:rPr>
              <a:t>Key Findings</a:t>
            </a:r>
            <a:endParaRPr lang="en-US" sz="1200" dirty="0"/>
          </a:p>
        </p:txBody>
      </p:sp>
      <p:sp>
        <p:nvSpPr>
          <p:cNvPr id="34" name="Text 31">
            <a:extLst>
              <a:ext uri="{FF2B5EF4-FFF2-40B4-BE49-F238E27FC236}">
                <a16:creationId xmlns:a16="http://schemas.microsoft.com/office/drawing/2014/main" id="{06937984-CDF2-F75D-63FC-14F3B2E4CE45}"/>
              </a:ext>
            </a:extLst>
          </p:cNvPr>
          <p:cNvSpPr/>
          <p:nvPr/>
        </p:nvSpPr>
        <p:spPr>
          <a:xfrm>
            <a:off x="5336174" y="1220942"/>
            <a:ext cx="3357155" cy="2263404"/>
          </a:xfrm>
          <a:prstGeom prst="rect">
            <a:avLst/>
          </a:prstGeom>
          <a:noFill/>
          <a:ln/>
        </p:spPr>
        <p:txBody>
          <a:bodyPr wrap="square" lIns="0" tIns="0" rIns="0" bIns="0" rtlCol="0" anchor="ctr"/>
          <a:lstStyle/>
          <a:p>
            <a:pPr marL="285750" indent="-285750">
              <a:buFont typeface="Arial" panose="020B0604020202020204" pitchFamily="34" charset="0"/>
              <a:buChar char="•"/>
            </a:pPr>
            <a:r>
              <a:rPr lang="en-IN" sz="1400" dirty="0">
                <a:solidFill>
                  <a:schemeClr val="bg1"/>
                </a:solidFill>
              </a:rPr>
              <a:t>35.4% of gurus fall within the 3–4 rating range. </a:t>
            </a:r>
          </a:p>
          <a:p>
            <a:pPr marL="285750" indent="-285750">
              <a:buFont typeface="Arial" panose="020B0604020202020204" pitchFamily="34" charset="0"/>
              <a:buChar char="•"/>
            </a:pPr>
            <a:r>
              <a:rPr lang="en-IN" sz="1400" dirty="0">
                <a:solidFill>
                  <a:schemeClr val="bg1"/>
                </a:solidFill>
              </a:rPr>
              <a:t>Only 6.9% of gurus have ratings above 5, highlighting quality variation. </a:t>
            </a:r>
          </a:p>
          <a:p>
            <a:pPr marL="285750" indent="-285750">
              <a:buFont typeface="Arial" panose="020B0604020202020204" pitchFamily="34" charset="0"/>
              <a:buChar char="•"/>
            </a:pPr>
            <a:r>
              <a:rPr lang="en-IN" sz="1400" dirty="0">
                <a:solidFill>
                  <a:schemeClr val="bg1"/>
                </a:solidFill>
              </a:rPr>
              <a:t>Astro </a:t>
            </a:r>
            <a:r>
              <a:rPr lang="en-IN" sz="1400" dirty="0" err="1">
                <a:solidFill>
                  <a:schemeClr val="bg1"/>
                </a:solidFill>
              </a:rPr>
              <a:t>Pujaa</a:t>
            </a:r>
            <a:r>
              <a:rPr lang="en-IN" sz="1400" dirty="0">
                <a:solidFill>
                  <a:schemeClr val="bg1"/>
                </a:solidFill>
              </a:rPr>
              <a:t> Rai and Tarot Mystical are the top-rated gurus (7.5/8). </a:t>
            </a:r>
          </a:p>
          <a:p>
            <a:pPr marL="171450" indent="-171450">
              <a:buFont typeface="Arial" panose="020B0604020202020204" pitchFamily="34" charset="0"/>
              <a:buChar char="•"/>
            </a:pPr>
            <a:br>
              <a:rPr lang="en-IN" sz="1000" dirty="0"/>
            </a:br>
            <a:endParaRPr lang="en-US" sz="950" dirty="0"/>
          </a:p>
        </p:txBody>
      </p:sp>
      <p:graphicFrame>
        <p:nvGraphicFramePr>
          <p:cNvPr id="3" name="Chart 2">
            <a:extLst>
              <a:ext uri="{FF2B5EF4-FFF2-40B4-BE49-F238E27FC236}">
                <a16:creationId xmlns:a16="http://schemas.microsoft.com/office/drawing/2014/main" id="{42CC24B8-F102-4CBB-91C3-AC5BA5648553}"/>
              </a:ext>
            </a:extLst>
          </p:cNvPr>
          <p:cNvGraphicFramePr>
            <a:graphicFrameLocks/>
          </p:cNvGraphicFramePr>
          <p:nvPr>
            <p:extLst>
              <p:ext uri="{D42A27DB-BD31-4B8C-83A1-F6EECF244321}">
                <p14:modId xmlns:p14="http://schemas.microsoft.com/office/powerpoint/2010/main" val="2402112966"/>
              </p:ext>
            </p:extLst>
          </p:nvPr>
        </p:nvGraphicFramePr>
        <p:xfrm>
          <a:off x="218740" y="1432729"/>
          <a:ext cx="4836584" cy="287866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10411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83A3048A-E5EC-8200-0ACA-4DD4FB082EDA}"/>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86D0E55-707D-B9C8-12E1-67068F5BCE9E}"/>
              </a:ext>
            </a:extLst>
          </p:cNvPr>
          <p:cNvSpPr/>
          <p:nvPr/>
        </p:nvSpPr>
        <p:spPr>
          <a:xfrm>
            <a:off x="621792" y="291837"/>
            <a:ext cx="7315200" cy="411480"/>
          </a:xfrm>
          <a:prstGeom prst="rect">
            <a:avLst/>
          </a:prstGeom>
          <a:noFill/>
          <a:ln/>
        </p:spPr>
        <p:txBody>
          <a:bodyPr wrap="square" lIns="0" tIns="0" rIns="0" bIns="0" rtlCol="0" anchor="ctr"/>
          <a:lstStyle/>
          <a:p>
            <a:pPr marL="0" indent="0">
              <a:buNone/>
            </a:pPr>
            <a:r>
              <a:rPr lang="en-US" sz="2400" b="1" dirty="0">
                <a:solidFill>
                  <a:srgbClr val="FFFFFF"/>
                </a:solidFill>
              </a:rPr>
              <a:t>Key Insights</a:t>
            </a:r>
            <a:endParaRPr lang="en-US" sz="2400" dirty="0"/>
          </a:p>
        </p:txBody>
      </p:sp>
      <p:sp>
        <p:nvSpPr>
          <p:cNvPr id="34" name="TextBox 33">
            <a:extLst>
              <a:ext uri="{FF2B5EF4-FFF2-40B4-BE49-F238E27FC236}">
                <a16:creationId xmlns:a16="http://schemas.microsoft.com/office/drawing/2014/main" id="{E1D2DE50-D6A3-CED9-BC71-6AF2079E7D90}"/>
              </a:ext>
            </a:extLst>
          </p:cNvPr>
          <p:cNvSpPr txBox="1"/>
          <p:nvPr/>
        </p:nvSpPr>
        <p:spPr>
          <a:xfrm>
            <a:off x="222504" y="901437"/>
            <a:ext cx="7564334" cy="3008772"/>
          </a:xfrm>
          <a:prstGeom prst="rect">
            <a:avLst/>
          </a:prstGeom>
          <a:noFill/>
        </p:spPr>
        <p:txBody>
          <a:bodyPr wrap="square">
            <a:spAutoFit/>
          </a:bodyPr>
          <a:lstStyle/>
          <a:p>
            <a:pPr marL="285750" indent="-285750" algn="just">
              <a:lnSpc>
                <a:spcPct val="150000"/>
              </a:lnSpc>
              <a:buClr>
                <a:schemeClr val="accent4">
                  <a:lumMod val="75000"/>
                </a:schemeClr>
              </a:buClr>
              <a:buFont typeface="Arial" panose="020B0604020202020204" pitchFamily="34" charset="0"/>
              <a:buChar char="•"/>
            </a:pPr>
            <a:r>
              <a:rPr lang="en-IN" sz="1600" dirty="0">
                <a:solidFill>
                  <a:schemeClr val="bg1"/>
                </a:solidFill>
              </a:rPr>
              <a:t>December contributed 94.5% of total consultation sessions. Voice calls generated 78.7% of revenue despite representing only 30.4% of sessions. </a:t>
            </a:r>
          </a:p>
          <a:p>
            <a:pPr marL="285750" indent="-285750" algn="just">
              <a:lnSpc>
                <a:spcPct val="150000"/>
              </a:lnSpc>
              <a:buClr>
                <a:schemeClr val="accent4">
                  <a:lumMod val="75000"/>
                </a:schemeClr>
              </a:buClr>
              <a:buFont typeface="Arial" panose="020B0604020202020204" pitchFamily="34" charset="0"/>
              <a:buChar char="•"/>
            </a:pPr>
            <a:r>
              <a:rPr lang="en-IN" sz="1600" dirty="0">
                <a:solidFill>
                  <a:schemeClr val="bg1"/>
                </a:solidFill>
              </a:rPr>
              <a:t>81.2% of sessions came from repeat users, indicating strong customer retention. Average customer satisfaction was 2.93/8, with 25.9% of sessions receiving a 0 rating. Call duration had no significant impact on customer satisfaction </a:t>
            </a:r>
            <a:r>
              <a:rPr lang="en-IN" sz="1600" i="1" dirty="0">
                <a:solidFill>
                  <a:schemeClr val="bg1"/>
                </a:solidFill>
              </a:rPr>
              <a:t>(r ≈ -0.003)</a:t>
            </a:r>
            <a:r>
              <a:rPr lang="en-IN" sz="1600" dirty="0">
                <a:solidFill>
                  <a:schemeClr val="bg1"/>
                </a:solidFill>
              </a:rPr>
              <a:t>.</a:t>
            </a:r>
          </a:p>
          <a:p>
            <a:pPr marL="285750" indent="-285750" algn="just">
              <a:lnSpc>
                <a:spcPct val="150000"/>
              </a:lnSpc>
              <a:buClr>
                <a:schemeClr val="accent4">
                  <a:lumMod val="75000"/>
                </a:schemeClr>
              </a:buClr>
              <a:buFont typeface="Arial" panose="020B0604020202020204" pitchFamily="34" charset="0"/>
              <a:buChar char="•"/>
            </a:pPr>
            <a:r>
              <a:rPr lang="en-IN" sz="1600" dirty="0">
                <a:solidFill>
                  <a:schemeClr val="bg1"/>
                </a:solidFill>
              </a:rPr>
              <a:t> Top 3 gurus handled 15.5% of all consultations, indicating workload concentration. Only 40.4% of call attempts were completed, highlighting opportunities to improve call success and revenue</a:t>
            </a:r>
            <a:r>
              <a:rPr lang="en-IN" sz="1400" dirty="0">
                <a:solidFill>
                  <a:schemeClr val="bg1"/>
                </a:solidFill>
              </a:rPr>
              <a:t>.</a:t>
            </a:r>
            <a:endParaRPr lang="en-US" sz="1400" dirty="0">
              <a:solidFill>
                <a:schemeClr val="bg1"/>
              </a:solidFill>
            </a:endParaRPr>
          </a:p>
        </p:txBody>
      </p:sp>
    </p:spTree>
    <p:extLst>
      <p:ext uri="{BB962C8B-B14F-4D97-AF65-F5344CB8AC3E}">
        <p14:creationId xmlns:p14="http://schemas.microsoft.com/office/powerpoint/2010/main" val="621511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4" name="Text 2"/>
          <p:cNvSpPr/>
          <p:nvPr/>
        </p:nvSpPr>
        <p:spPr>
          <a:xfrm>
            <a:off x="621792" y="201168"/>
            <a:ext cx="7315200" cy="411480"/>
          </a:xfrm>
          <a:prstGeom prst="rect">
            <a:avLst/>
          </a:prstGeom>
          <a:noFill/>
          <a:ln/>
        </p:spPr>
        <p:txBody>
          <a:bodyPr wrap="square" lIns="0" tIns="0" rIns="0" bIns="0" rtlCol="0" anchor="ctr"/>
          <a:lstStyle/>
          <a:p>
            <a:pPr marL="0" indent="0">
              <a:buNone/>
            </a:pPr>
            <a:r>
              <a:rPr lang="en-US" sz="2400" b="1" dirty="0">
                <a:solidFill>
                  <a:srgbClr val="FFFFFF"/>
                </a:solidFill>
              </a:rPr>
              <a:t>Expected Outcomes — 12-Month Targets Post-Investment</a:t>
            </a:r>
            <a:endParaRPr lang="en-US" sz="2400" dirty="0"/>
          </a:p>
        </p:txBody>
      </p:sp>
      <p:sp>
        <p:nvSpPr>
          <p:cNvPr id="5" name="Shape 3"/>
          <p:cNvSpPr/>
          <p:nvPr/>
        </p:nvSpPr>
        <p:spPr>
          <a:xfrm>
            <a:off x="621792" y="885444"/>
            <a:ext cx="3200400" cy="1606296"/>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pPr marL="285750" indent="-285750">
              <a:buClr>
                <a:schemeClr val="accent4">
                  <a:lumMod val="75000"/>
                </a:schemeClr>
              </a:buClr>
              <a:buFont typeface="Arial" panose="020B0604020202020204" pitchFamily="34" charset="0"/>
              <a:buChar char="•"/>
            </a:pPr>
            <a:r>
              <a:rPr lang="en-IN" sz="1600" dirty="0">
                <a:solidFill>
                  <a:srgbClr val="E8EDF3"/>
                </a:solidFill>
              </a:rPr>
              <a:t>Improved Customer Satisfaction</a:t>
            </a:r>
          </a:p>
          <a:p>
            <a:pPr marL="285750" indent="-285750">
              <a:buClr>
                <a:schemeClr val="accent4">
                  <a:lumMod val="75000"/>
                </a:schemeClr>
              </a:buClr>
              <a:buFont typeface="Arial" panose="020B0604020202020204" pitchFamily="34" charset="0"/>
              <a:buChar char="•"/>
            </a:pPr>
            <a:r>
              <a:rPr lang="en-IN" sz="1600" dirty="0">
                <a:solidFill>
                  <a:srgbClr val="E8EDF3"/>
                </a:solidFill>
              </a:rPr>
              <a:t>Better Workload Distribution</a:t>
            </a:r>
          </a:p>
          <a:p>
            <a:pPr marL="285750" indent="-285750">
              <a:buClr>
                <a:schemeClr val="accent4">
                  <a:lumMod val="75000"/>
                </a:schemeClr>
              </a:buClr>
              <a:buFont typeface="Arial" panose="020B0604020202020204" pitchFamily="34" charset="0"/>
              <a:buChar char="•"/>
            </a:pPr>
            <a:r>
              <a:rPr lang="en-IN" sz="1600" dirty="0">
                <a:solidFill>
                  <a:srgbClr val="E8EDF3"/>
                </a:solidFill>
              </a:rPr>
              <a:t>Reduced Agent Burnout</a:t>
            </a:r>
          </a:p>
          <a:p>
            <a:pPr marL="285750" indent="-285750">
              <a:buClr>
                <a:schemeClr val="accent4">
                  <a:lumMod val="75000"/>
                </a:schemeClr>
              </a:buClr>
              <a:buFont typeface="Arial" panose="020B0604020202020204" pitchFamily="34" charset="0"/>
              <a:buChar char="•"/>
            </a:pPr>
            <a:r>
              <a:rPr lang="en-IN" sz="1600" dirty="0">
                <a:solidFill>
                  <a:srgbClr val="E8EDF3"/>
                </a:solidFill>
              </a:rPr>
              <a:t>Enhanced Peak Call Handling</a:t>
            </a:r>
          </a:p>
          <a:p>
            <a:pPr marL="285750" indent="-285750">
              <a:buClr>
                <a:schemeClr val="accent4">
                  <a:lumMod val="75000"/>
                </a:schemeClr>
              </a:buClr>
              <a:buFont typeface="Arial" panose="020B0604020202020204" pitchFamily="34" charset="0"/>
              <a:buChar char="•"/>
            </a:pPr>
            <a:r>
              <a:rPr lang="en-IN" sz="1600" dirty="0">
                <a:solidFill>
                  <a:srgbClr val="E8EDF3"/>
                </a:solidFill>
              </a:rPr>
              <a:t>Stronger Customer Retention</a:t>
            </a:r>
          </a:p>
          <a:p>
            <a:endParaRPr lang="en-IN" dirty="0"/>
          </a:p>
        </p:txBody>
      </p:sp>
      <p:sp>
        <p:nvSpPr>
          <p:cNvPr id="11" name="Shape 9"/>
          <p:cNvSpPr/>
          <p:nvPr/>
        </p:nvSpPr>
        <p:spPr>
          <a:xfrm>
            <a:off x="419100" y="3922014"/>
            <a:ext cx="8069580" cy="718566"/>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r>
              <a:rPr lang="en-IN" sz="1600" dirty="0">
                <a:solidFill>
                  <a:srgbClr val="E8EDF3"/>
                </a:solidFill>
              </a:rPr>
              <a:t>Investment in training, technology, and workforce planning is expected to improve efficiency, customer satisfaction, and profitability</a:t>
            </a:r>
            <a:r>
              <a:rPr lang="en-IN" sz="1600" dirty="0"/>
              <a:t>.</a:t>
            </a:r>
          </a:p>
          <a:p>
            <a:endParaRPr lang="en-IN" dirty="0"/>
          </a:p>
        </p:txBody>
      </p:sp>
      <p:sp>
        <p:nvSpPr>
          <p:cNvPr id="17" name="Shape 15"/>
          <p:cNvSpPr/>
          <p:nvPr/>
        </p:nvSpPr>
        <p:spPr>
          <a:xfrm>
            <a:off x="4389120" y="1612392"/>
            <a:ext cx="3878580" cy="1920240"/>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pPr marL="285750" indent="-285750">
              <a:buClr>
                <a:schemeClr val="accent4">
                  <a:lumMod val="75000"/>
                </a:schemeClr>
              </a:buClr>
              <a:buFont typeface="Arial" panose="020B0604020202020204" pitchFamily="34" charset="0"/>
              <a:buChar char="•"/>
            </a:pPr>
            <a:r>
              <a:rPr lang="en-IN" sz="1600" dirty="0">
                <a:solidFill>
                  <a:srgbClr val="E8EDF3"/>
                </a:solidFill>
              </a:rPr>
              <a:t> Increased Operational Efficiency</a:t>
            </a:r>
          </a:p>
          <a:p>
            <a:pPr marL="285750" indent="-285750">
              <a:buClr>
                <a:schemeClr val="accent4">
                  <a:lumMod val="75000"/>
                </a:schemeClr>
              </a:buClr>
              <a:buFont typeface="Arial" panose="020B0604020202020204" pitchFamily="34" charset="0"/>
              <a:buChar char="•"/>
            </a:pPr>
            <a:r>
              <a:rPr lang="en-IN" sz="1600" dirty="0">
                <a:solidFill>
                  <a:srgbClr val="E8EDF3"/>
                </a:solidFill>
              </a:rPr>
              <a:t> Better Agent Performance Monitoring</a:t>
            </a:r>
          </a:p>
          <a:p>
            <a:pPr marL="285750" indent="-285750">
              <a:buClr>
                <a:schemeClr val="accent4">
                  <a:lumMod val="75000"/>
                </a:schemeClr>
              </a:buClr>
              <a:buFont typeface="Arial" panose="020B0604020202020204" pitchFamily="34" charset="0"/>
              <a:buChar char="•"/>
            </a:pPr>
            <a:r>
              <a:rPr lang="en-IN" sz="1600" dirty="0">
                <a:solidFill>
                  <a:srgbClr val="E8EDF3"/>
                </a:solidFill>
              </a:rPr>
              <a:t> Improved Resource Utilization</a:t>
            </a:r>
          </a:p>
          <a:p>
            <a:pPr marL="285750" indent="-285750">
              <a:buClr>
                <a:schemeClr val="accent4">
                  <a:lumMod val="75000"/>
                </a:schemeClr>
              </a:buClr>
              <a:buFont typeface="Arial" panose="020B0604020202020204" pitchFamily="34" charset="0"/>
              <a:buChar char="•"/>
            </a:pPr>
            <a:r>
              <a:rPr lang="en-IN" sz="1600" dirty="0">
                <a:solidFill>
                  <a:srgbClr val="E8EDF3"/>
                </a:solidFill>
              </a:rPr>
              <a:t> Higher Revenue Potential</a:t>
            </a:r>
          </a:p>
          <a:p>
            <a:pPr marL="285750" indent="-285750">
              <a:buClr>
                <a:schemeClr val="accent4">
                  <a:lumMod val="75000"/>
                </a:schemeClr>
              </a:buClr>
              <a:buFont typeface="Arial" panose="020B0604020202020204" pitchFamily="34" charset="0"/>
              <a:buChar char="•"/>
            </a:pPr>
            <a:r>
              <a:rPr lang="en-IN" sz="1600" dirty="0">
                <a:solidFill>
                  <a:srgbClr val="E8EDF3"/>
                </a:solidFill>
              </a:rPr>
              <a:t> Data-Driven Decision Making</a:t>
            </a:r>
          </a:p>
          <a:p>
            <a:pPr marL="285750" indent="-285750">
              <a:buClr>
                <a:schemeClr val="accent4">
                  <a:lumMod val="75000"/>
                </a:schemeClr>
              </a:buClr>
              <a:buFont typeface="Arial" panose="020B0604020202020204" pitchFamily="34" charset="0"/>
              <a:buChar char="•"/>
            </a:pPr>
            <a:r>
              <a:rPr lang="en-IN" sz="1600" dirty="0">
                <a:solidFill>
                  <a:srgbClr val="E8EDF3"/>
                </a:solidFill>
              </a:rPr>
              <a:t> Long-Term Business Growth</a:t>
            </a:r>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4" name="Text 2"/>
          <p:cNvSpPr/>
          <p:nvPr/>
        </p:nvSpPr>
        <p:spPr>
          <a:xfrm>
            <a:off x="621792" y="201168"/>
            <a:ext cx="7315200" cy="411480"/>
          </a:xfrm>
          <a:prstGeom prst="rect">
            <a:avLst/>
          </a:prstGeom>
          <a:noFill/>
          <a:ln/>
        </p:spPr>
        <p:txBody>
          <a:bodyPr wrap="square" lIns="0" tIns="0" rIns="0" bIns="0" rtlCol="0" anchor="ctr"/>
          <a:lstStyle/>
          <a:p>
            <a:pPr marL="0" indent="0">
              <a:buNone/>
            </a:pPr>
            <a:r>
              <a:rPr lang="en-US" sz="2400" b="1" dirty="0">
                <a:solidFill>
                  <a:srgbClr val="FFFFFF"/>
                </a:solidFill>
              </a:rPr>
              <a:t>Excel Dashboard &amp; Tools Used</a:t>
            </a:r>
            <a:endParaRPr lang="en-US" sz="2400" dirty="0"/>
          </a:p>
        </p:txBody>
      </p:sp>
      <p:sp>
        <p:nvSpPr>
          <p:cNvPr id="5" name="Shape 3"/>
          <p:cNvSpPr/>
          <p:nvPr/>
        </p:nvSpPr>
        <p:spPr>
          <a:xfrm>
            <a:off x="365760" y="777240"/>
            <a:ext cx="5029200" cy="4114800"/>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endParaRPr lang="en-IN"/>
          </a:p>
        </p:txBody>
      </p:sp>
      <p:sp>
        <p:nvSpPr>
          <p:cNvPr id="6" name="Text 4"/>
          <p:cNvSpPr/>
          <p:nvPr/>
        </p:nvSpPr>
        <p:spPr>
          <a:xfrm>
            <a:off x="548640" y="868680"/>
            <a:ext cx="4663440" cy="301752"/>
          </a:xfrm>
          <a:prstGeom prst="rect">
            <a:avLst/>
          </a:prstGeom>
          <a:noFill/>
          <a:ln/>
        </p:spPr>
        <p:txBody>
          <a:bodyPr wrap="square" lIns="0" tIns="0" rIns="0" bIns="0" rtlCol="0" anchor="ctr"/>
          <a:lstStyle/>
          <a:p>
            <a:pPr marL="0" indent="0">
              <a:buNone/>
            </a:pPr>
            <a:r>
              <a:rPr lang="en-US" sz="1300" b="1" dirty="0">
                <a:solidFill>
                  <a:srgbClr val="C9A84C"/>
                </a:solidFill>
              </a:rPr>
              <a:t>Dashboard Components</a:t>
            </a:r>
            <a:endParaRPr lang="en-US" sz="1300" dirty="0"/>
          </a:p>
        </p:txBody>
      </p:sp>
      <p:sp>
        <p:nvSpPr>
          <p:cNvPr id="7" name="Shape 5"/>
          <p:cNvSpPr/>
          <p:nvPr/>
        </p:nvSpPr>
        <p:spPr>
          <a:xfrm>
            <a:off x="384048" y="1216152"/>
            <a:ext cx="4992624" cy="402336"/>
          </a:xfrm>
          <a:prstGeom prst="rect">
            <a:avLst/>
          </a:prstGeom>
          <a:solidFill>
            <a:srgbClr val="22395A"/>
          </a:solidFill>
          <a:ln w="12700">
            <a:solidFill>
              <a:srgbClr val="22395A"/>
            </a:solidFill>
            <a:prstDash val="solid"/>
          </a:ln>
        </p:spPr>
        <p:txBody>
          <a:bodyPr/>
          <a:lstStyle/>
          <a:p>
            <a:endParaRPr lang="en-IN"/>
          </a:p>
        </p:txBody>
      </p:sp>
      <p:sp>
        <p:nvSpPr>
          <p:cNvPr id="8" name="Text 6"/>
          <p:cNvSpPr/>
          <p:nvPr/>
        </p:nvSpPr>
        <p:spPr>
          <a:xfrm>
            <a:off x="502920" y="1261872"/>
            <a:ext cx="1828800" cy="347472"/>
          </a:xfrm>
          <a:prstGeom prst="rect">
            <a:avLst/>
          </a:prstGeom>
          <a:noFill/>
          <a:ln/>
        </p:spPr>
        <p:txBody>
          <a:bodyPr wrap="square" lIns="0" tIns="0" rIns="0" bIns="0" rtlCol="0" anchor="ctr"/>
          <a:lstStyle/>
          <a:p>
            <a:pPr marL="0" indent="0">
              <a:buNone/>
            </a:pPr>
            <a:r>
              <a:rPr lang="en-US" sz="1000" b="1" dirty="0">
                <a:solidFill>
                  <a:srgbClr val="C9A84C"/>
                </a:solidFill>
              </a:rPr>
              <a:t>KPI Area</a:t>
            </a:r>
            <a:endParaRPr lang="en-US" sz="1000" dirty="0"/>
          </a:p>
        </p:txBody>
      </p:sp>
      <p:sp>
        <p:nvSpPr>
          <p:cNvPr id="9" name="Text 7"/>
          <p:cNvSpPr/>
          <p:nvPr/>
        </p:nvSpPr>
        <p:spPr>
          <a:xfrm>
            <a:off x="2377440" y="1261872"/>
            <a:ext cx="1188720" cy="347472"/>
          </a:xfrm>
          <a:prstGeom prst="rect">
            <a:avLst/>
          </a:prstGeom>
          <a:noFill/>
          <a:ln/>
        </p:spPr>
        <p:txBody>
          <a:bodyPr wrap="square" lIns="0" tIns="0" rIns="0" bIns="0" rtlCol="0" anchor="ctr"/>
          <a:lstStyle/>
          <a:p>
            <a:pPr marL="0" indent="0">
              <a:buNone/>
            </a:pPr>
            <a:r>
              <a:rPr lang="en-US" sz="1000" b="1" dirty="0">
                <a:solidFill>
                  <a:srgbClr val="C9A84C"/>
                </a:solidFill>
              </a:rPr>
              <a:t>Section</a:t>
            </a:r>
            <a:endParaRPr lang="en-US" sz="1000" dirty="0"/>
          </a:p>
        </p:txBody>
      </p:sp>
      <p:sp>
        <p:nvSpPr>
          <p:cNvPr id="10" name="Text 8"/>
          <p:cNvSpPr/>
          <p:nvPr/>
        </p:nvSpPr>
        <p:spPr>
          <a:xfrm>
            <a:off x="3611880" y="1261872"/>
            <a:ext cx="1691640" cy="347472"/>
          </a:xfrm>
          <a:prstGeom prst="rect">
            <a:avLst/>
          </a:prstGeom>
          <a:noFill/>
          <a:ln/>
        </p:spPr>
        <p:txBody>
          <a:bodyPr wrap="square" lIns="0" tIns="0" rIns="0" bIns="0" rtlCol="0" anchor="ctr"/>
          <a:lstStyle/>
          <a:p>
            <a:pPr marL="0" indent="0">
              <a:buNone/>
            </a:pPr>
            <a:r>
              <a:rPr lang="en-US" sz="1000" b="1" dirty="0">
                <a:solidFill>
                  <a:srgbClr val="C9A84C"/>
                </a:solidFill>
              </a:rPr>
              <a:t>Visual Type</a:t>
            </a:r>
            <a:endParaRPr lang="en-US" sz="1000" dirty="0"/>
          </a:p>
        </p:txBody>
      </p:sp>
      <p:sp>
        <p:nvSpPr>
          <p:cNvPr id="11" name="Text 9"/>
          <p:cNvSpPr/>
          <p:nvPr/>
        </p:nvSpPr>
        <p:spPr>
          <a:xfrm>
            <a:off x="502920" y="1709928"/>
            <a:ext cx="1828800" cy="347472"/>
          </a:xfrm>
          <a:prstGeom prst="rect">
            <a:avLst/>
          </a:prstGeom>
          <a:noFill/>
          <a:ln/>
        </p:spPr>
        <p:txBody>
          <a:bodyPr wrap="square" lIns="0" tIns="0" rIns="0" bIns="0" rtlCol="0" anchor="ctr"/>
          <a:lstStyle/>
          <a:p>
            <a:pPr marL="0" indent="0">
              <a:buNone/>
            </a:pPr>
            <a:r>
              <a:rPr lang="en-US" sz="950" dirty="0">
                <a:solidFill>
                  <a:srgbClr val="E8EDF3"/>
                </a:solidFill>
              </a:rPr>
              <a:t>Total Calls, Daily/Monthly Volume</a:t>
            </a:r>
            <a:endParaRPr lang="en-US" sz="950" dirty="0"/>
          </a:p>
        </p:txBody>
      </p:sp>
      <p:sp>
        <p:nvSpPr>
          <p:cNvPr id="12" name="Text 10"/>
          <p:cNvSpPr/>
          <p:nvPr/>
        </p:nvSpPr>
        <p:spPr>
          <a:xfrm>
            <a:off x="2377440" y="1709928"/>
            <a:ext cx="1188720" cy="347472"/>
          </a:xfrm>
          <a:prstGeom prst="rect">
            <a:avLst/>
          </a:prstGeom>
          <a:noFill/>
          <a:ln/>
        </p:spPr>
        <p:txBody>
          <a:bodyPr wrap="square" lIns="0" tIns="0" rIns="0" bIns="0" rtlCol="0" anchor="ctr"/>
          <a:lstStyle/>
          <a:p>
            <a:pPr marL="0" indent="0">
              <a:buNone/>
            </a:pPr>
            <a:r>
              <a:rPr lang="en-US" sz="950" dirty="0">
                <a:solidFill>
                  <a:srgbClr val="4FA8D8"/>
                </a:solidFill>
              </a:rPr>
              <a:t>Call Volume</a:t>
            </a:r>
            <a:endParaRPr lang="en-US" sz="950" dirty="0"/>
          </a:p>
        </p:txBody>
      </p:sp>
      <p:sp>
        <p:nvSpPr>
          <p:cNvPr id="13" name="Text 11"/>
          <p:cNvSpPr/>
          <p:nvPr/>
        </p:nvSpPr>
        <p:spPr>
          <a:xfrm>
            <a:off x="3611880" y="1709928"/>
            <a:ext cx="1691640" cy="347472"/>
          </a:xfrm>
          <a:prstGeom prst="rect">
            <a:avLst/>
          </a:prstGeom>
          <a:noFill/>
          <a:ln/>
        </p:spPr>
        <p:txBody>
          <a:bodyPr wrap="square" lIns="0" tIns="0" rIns="0" bIns="0" rtlCol="0" anchor="ctr"/>
          <a:lstStyle/>
          <a:p>
            <a:pPr marL="0" indent="0">
              <a:buNone/>
            </a:pPr>
            <a:r>
              <a:rPr lang="en-US" sz="950" dirty="0">
                <a:solidFill>
                  <a:srgbClr val="8DA2B8"/>
                </a:solidFill>
              </a:rPr>
              <a:t>Line Chart + KPI Cards</a:t>
            </a:r>
            <a:endParaRPr lang="en-US" sz="950" dirty="0"/>
          </a:p>
        </p:txBody>
      </p:sp>
      <p:sp>
        <p:nvSpPr>
          <p:cNvPr id="14" name="Text 12"/>
          <p:cNvSpPr/>
          <p:nvPr/>
        </p:nvSpPr>
        <p:spPr>
          <a:xfrm>
            <a:off x="502920" y="2157984"/>
            <a:ext cx="1828800" cy="347472"/>
          </a:xfrm>
          <a:prstGeom prst="rect">
            <a:avLst/>
          </a:prstGeom>
          <a:noFill/>
          <a:ln/>
        </p:spPr>
        <p:txBody>
          <a:bodyPr wrap="square" lIns="0" tIns="0" rIns="0" bIns="0" rtlCol="0" anchor="ctr"/>
          <a:lstStyle/>
          <a:p>
            <a:pPr marL="0" indent="0">
              <a:buNone/>
            </a:pPr>
            <a:r>
              <a:rPr lang="en-US" sz="950" dirty="0">
                <a:solidFill>
                  <a:srgbClr val="E8EDF3"/>
                </a:solidFill>
              </a:rPr>
              <a:t>Avg Rating — overall, by month, by guru</a:t>
            </a:r>
            <a:endParaRPr lang="en-US" sz="950" dirty="0"/>
          </a:p>
        </p:txBody>
      </p:sp>
      <p:sp>
        <p:nvSpPr>
          <p:cNvPr id="15" name="Text 13"/>
          <p:cNvSpPr/>
          <p:nvPr/>
        </p:nvSpPr>
        <p:spPr>
          <a:xfrm>
            <a:off x="2377440" y="2157984"/>
            <a:ext cx="1188720" cy="347472"/>
          </a:xfrm>
          <a:prstGeom prst="rect">
            <a:avLst/>
          </a:prstGeom>
          <a:noFill/>
          <a:ln/>
        </p:spPr>
        <p:txBody>
          <a:bodyPr wrap="square" lIns="0" tIns="0" rIns="0" bIns="0" rtlCol="0" anchor="ctr"/>
          <a:lstStyle/>
          <a:p>
            <a:pPr marL="0" indent="0">
              <a:buNone/>
            </a:pPr>
            <a:r>
              <a:rPr lang="en-US" sz="950" dirty="0">
                <a:solidFill>
                  <a:srgbClr val="4FA8D8"/>
                </a:solidFill>
              </a:rPr>
              <a:t>Satisfaction</a:t>
            </a:r>
            <a:endParaRPr lang="en-US" sz="950" dirty="0"/>
          </a:p>
        </p:txBody>
      </p:sp>
      <p:sp>
        <p:nvSpPr>
          <p:cNvPr id="16" name="Text 14"/>
          <p:cNvSpPr/>
          <p:nvPr/>
        </p:nvSpPr>
        <p:spPr>
          <a:xfrm>
            <a:off x="3611880" y="2157984"/>
            <a:ext cx="1691640" cy="347472"/>
          </a:xfrm>
          <a:prstGeom prst="rect">
            <a:avLst/>
          </a:prstGeom>
          <a:noFill/>
          <a:ln/>
        </p:spPr>
        <p:txBody>
          <a:bodyPr wrap="square" lIns="0" tIns="0" rIns="0" bIns="0" rtlCol="0" anchor="ctr"/>
          <a:lstStyle/>
          <a:p>
            <a:pPr marL="0" indent="0">
              <a:buNone/>
            </a:pPr>
            <a:r>
              <a:rPr lang="en-US" sz="950" dirty="0">
                <a:solidFill>
                  <a:srgbClr val="8DA2B8"/>
                </a:solidFill>
              </a:rPr>
              <a:t>Bar Chart + KPI Cards</a:t>
            </a:r>
            <a:endParaRPr lang="en-US" sz="950" dirty="0"/>
          </a:p>
        </p:txBody>
      </p:sp>
      <p:sp>
        <p:nvSpPr>
          <p:cNvPr id="17" name="Text 15"/>
          <p:cNvSpPr/>
          <p:nvPr/>
        </p:nvSpPr>
        <p:spPr>
          <a:xfrm>
            <a:off x="502920" y="2606040"/>
            <a:ext cx="1828800" cy="347472"/>
          </a:xfrm>
          <a:prstGeom prst="rect">
            <a:avLst/>
          </a:prstGeom>
          <a:noFill/>
          <a:ln/>
        </p:spPr>
        <p:txBody>
          <a:bodyPr wrap="square" lIns="0" tIns="0" rIns="0" bIns="0" rtlCol="0" anchor="ctr"/>
          <a:lstStyle/>
          <a:p>
            <a:pPr marL="0" indent="0">
              <a:buNone/>
            </a:pPr>
            <a:r>
              <a:rPr lang="en-US" sz="950" dirty="0">
                <a:solidFill>
                  <a:srgbClr val="E8EDF3"/>
                </a:solidFill>
              </a:rPr>
              <a:t>Calls per agent, Top/Bottom 5 gurus</a:t>
            </a:r>
            <a:endParaRPr lang="en-US" sz="950" dirty="0"/>
          </a:p>
        </p:txBody>
      </p:sp>
      <p:sp>
        <p:nvSpPr>
          <p:cNvPr id="18" name="Text 16"/>
          <p:cNvSpPr/>
          <p:nvPr/>
        </p:nvSpPr>
        <p:spPr>
          <a:xfrm>
            <a:off x="2377440" y="2606040"/>
            <a:ext cx="1188720" cy="347472"/>
          </a:xfrm>
          <a:prstGeom prst="rect">
            <a:avLst/>
          </a:prstGeom>
          <a:noFill/>
          <a:ln/>
        </p:spPr>
        <p:txBody>
          <a:bodyPr wrap="square" lIns="0" tIns="0" rIns="0" bIns="0" rtlCol="0" anchor="ctr"/>
          <a:lstStyle/>
          <a:p>
            <a:pPr marL="0" indent="0">
              <a:buNone/>
            </a:pPr>
            <a:r>
              <a:rPr lang="en-US" sz="950" dirty="0">
                <a:solidFill>
                  <a:srgbClr val="4FA8D8"/>
                </a:solidFill>
              </a:rPr>
              <a:t>Agent Performance</a:t>
            </a:r>
            <a:endParaRPr lang="en-US" sz="950" dirty="0"/>
          </a:p>
        </p:txBody>
      </p:sp>
      <p:sp>
        <p:nvSpPr>
          <p:cNvPr id="19" name="Text 17"/>
          <p:cNvSpPr/>
          <p:nvPr/>
        </p:nvSpPr>
        <p:spPr>
          <a:xfrm>
            <a:off x="3611880" y="2606040"/>
            <a:ext cx="1691640" cy="347472"/>
          </a:xfrm>
          <a:prstGeom prst="rect">
            <a:avLst/>
          </a:prstGeom>
          <a:noFill/>
          <a:ln/>
        </p:spPr>
        <p:txBody>
          <a:bodyPr wrap="square" lIns="0" tIns="0" rIns="0" bIns="0" rtlCol="0" anchor="ctr"/>
          <a:lstStyle/>
          <a:p>
            <a:pPr marL="0" indent="0">
              <a:buNone/>
            </a:pPr>
            <a:r>
              <a:rPr lang="en-US" sz="950" dirty="0">
                <a:solidFill>
                  <a:srgbClr val="8DA2B8"/>
                </a:solidFill>
              </a:rPr>
              <a:t>Clustered Bar Chart</a:t>
            </a:r>
            <a:endParaRPr lang="en-US" sz="950" dirty="0"/>
          </a:p>
        </p:txBody>
      </p:sp>
      <p:sp>
        <p:nvSpPr>
          <p:cNvPr id="20" name="Text 18"/>
          <p:cNvSpPr/>
          <p:nvPr/>
        </p:nvSpPr>
        <p:spPr>
          <a:xfrm>
            <a:off x="502920" y="3054096"/>
            <a:ext cx="1828800" cy="347472"/>
          </a:xfrm>
          <a:prstGeom prst="rect">
            <a:avLst/>
          </a:prstGeom>
          <a:noFill/>
          <a:ln/>
        </p:spPr>
        <p:txBody>
          <a:bodyPr wrap="square" lIns="0" tIns="0" rIns="0" bIns="0" rtlCol="0" anchor="ctr"/>
          <a:lstStyle/>
          <a:p>
            <a:pPr marL="0" indent="0">
              <a:buNone/>
            </a:pPr>
            <a:r>
              <a:rPr lang="en-US" sz="950" dirty="0">
                <a:solidFill>
                  <a:srgbClr val="E8EDF3"/>
                </a:solidFill>
              </a:rPr>
              <a:t>Unique Callers, Repeat Caller Rate</a:t>
            </a:r>
            <a:endParaRPr lang="en-US" sz="950" dirty="0"/>
          </a:p>
        </p:txBody>
      </p:sp>
      <p:sp>
        <p:nvSpPr>
          <p:cNvPr id="21" name="Text 19"/>
          <p:cNvSpPr/>
          <p:nvPr/>
        </p:nvSpPr>
        <p:spPr>
          <a:xfrm>
            <a:off x="2377440" y="3054096"/>
            <a:ext cx="1188720" cy="347472"/>
          </a:xfrm>
          <a:prstGeom prst="rect">
            <a:avLst/>
          </a:prstGeom>
          <a:noFill/>
          <a:ln/>
        </p:spPr>
        <p:txBody>
          <a:bodyPr wrap="square" lIns="0" tIns="0" rIns="0" bIns="0" rtlCol="0" anchor="ctr"/>
          <a:lstStyle/>
          <a:p>
            <a:pPr marL="0" indent="0">
              <a:buNone/>
            </a:pPr>
            <a:r>
              <a:rPr lang="en-US" sz="950" dirty="0">
                <a:solidFill>
                  <a:srgbClr val="4FA8D8"/>
                </a:solidFill>
              </a:rPr>
              <a:t>Caller Behaviour</a:t>
            </a:r>
            <a:endParaRPr lang="en-US" sz="950" dirty="0"/>
          </a:p>
        </p:txBody>
      </p:sp>
      <p:sp>
        <p:nvSpPr>
          <p:cNvPr id="22" name="Text 20"/>
          <p:cNvSpPr/>
          <p:nvPr/>
        </p:nvSpPr>
        <p:spPr>
          <a:xfrm>
            <a:off x="3611880" y="3054096"/>
            <a:ext cx="1691640" cy="347472"/>
          </a:xfrm>
          <a:prstGeom prst="rect">
            <a:avLst/>
          </a:prstGeom>
          <a:noFill/>
          <a:ln/>
        </p:spPr>
        <p:txBody>
          <a:bodyPr wrap="square" lIns="0" tIns="0" rIns="0" bIns="0" rtlCol="0" anchor="ctr"/>
          <a:lstStyle/>
          <a:p>
            <a:pPr marL="0" indent="0">
              <a:buNone/>
            </a:pPr>
            <a:r>
              <a:rPr lang="en-US" sz="950" dirty="0">
                <a:solidFill>
                  <a:srgbClr val="8DA2B8"/>
                </a:solidFill>
              </a:rPr>
              <a:t>KPI Cards</a:t>
            </a:r>
            <a:endParaRPr lang="en-US" sz="950" dirty="0"/>
          </a:p>
        </p:txBody>
      </p:sp>
      <p:sp>
        <p:nvSpPr>
          <p:cNvPr id="23" name="Text 21"/>
          <p:cNvSpPr/>
          <p:nvPr/>
        </p:nvSpPr>
        <p:spPr>
          <a:xfrm>
            <a:off x="502920" y="3502152"/>
            <a:ext cx="1828800" cy="347472"/>
          </a:xfrm>
          <a:prstGeom prst="rect">
            <a:avLst/>
          </a:prstGeom>
          <a:noFill/>
          <a:ln/>
        </p:spPr>
        <p:txBody>
          <a:bodyPr wrap="square" lIns="0" tIns="0" rIns="0" bIns="0" rtlCol="0" anchor="ctr"/>
          <a:lstStyle/>
          <a:p>
            <a:pPr marL="0" indent="0">
              <a:buNone/>
            </a:pPr>
            <a:r>
              <a:rPr lang="en-US" sz="950" dirty="0">
                <a:solidFill>
                  <a:srgbClr val="E8EDF3"/>
                </a:solidFill>
              </a:rPr>
              <a:t>Astrologer Earnings, Operational Cost</a:t>
            </a:r>
            <a:endParaRPr lang="en-US" sz="950" dirty="0"/>
          </a:p>
        </p:txBody>
      </p:sp>
      <p:sp>
        <p:nvSpPr>
          <p:cNvPr id="24" name="Text 22"/>
          <p:cNvSpPr/>
          <p:nvPr/>
        </p:nvSpPr>
        <p:spPr>
          <a:xfrm>
            <a:off x="2377440" y="3502152"/>
            <a:ext cx="1188720" cy="347472"/>
          </a:xfrm>
          <a:prstGeom prst="rect">
            <a:avLst/>
          </a:prstGeom>
          <a:noFill/>
          <a:ln/>
        </p:spPr>
        <p:txBody>
          <a:bodyPr wrap="square" lIns="0" tIns="0" rIns="0" bIns="0" rtlCol="0" anchor="ctr"/>
          <a:lstStyle/>
          <a:p>
            <a:pPr marL="0" indent="0">
              <a:buNone/>
            </a:pPr>
            <a:r>
              <a:rPr lang="en-US" sz="950" dirty="0">
                <a:solidFill>
                  <a:srgbClr val="4FA8D8"/>
                </a:solidFill>
              </a:rPr>
              <a:t>Operations Cost</a:t>
            </a:r>
            <a:endParaRPr lang="en-US" sz="950" dirty="0"/>
          </a:p>
        </p:txBody>
      </p:sp>
      <p:sp>
        <p:nvSpPr>
          <p:cNvPr id="25" name="Text 23"/>
          <p:cNvSpPr/>
          <p:nvPr/>
        </p:nvSpPr>
        <p:spPr>
          <a:xfrm>
            <a:off x="3611880" y="3502152"/>
            <a:ext cx="1691640" cy="347472"/>
          </a:xfrm>
          <a:prstGeom prst="rect">
            <a:avLst/>
          </a:prstGeom>
          <a:noFill/>
          <a:ln/>
        </p:spPr>
        <p:txBody>
          <a:bodyPr wrap="square" lIns="0" tIns="0" rIns="0" bIns="0" rtlCol="0" anchor="ctr"/>
          <a:lstStyle/>
          <a:p>
            <a:pPr marL="0" indent="0">
              <a:buNone/>
            </a:pPr>
            <a:r>
              <a:rPr lang="en-US" sz="950" dirty="0">
                <a:solidFill>
                  <a:srgbClr val="8DA2B8"/>
                </a:solidFill>
              </a:rPr>
              <a:t>Column Chart + KPI</a:t>
            </a:r>
            <a:endParaRPr lang="en-US" sz="950" dirty="0"/>
          </a:p>
        </p:txBody>
      </p:sp>
      <p:sp>
        <p:nvSpPr>
          <p:cNvPr id="26" name="Text 24"/>
          <p:cNvSpPr/>
          <p:nvPr/>
        </p:nvSpPr>
        <p:spPr>
          <a:xfrm>
            <a:off x="502920" y="3930396"/>
            <a:ext cx="1965960" cy="347472"/>
          </a:xfrm>
          <a:prstGeom prst="rect">
            <a:avLst/>
          </a:prstGeom>
          <a:noFill/>
          <a:ln/>
        </p:spPr>
        <p:txBody>
          <a:bodyPr wrap="square" lIns="0" tIns="0" rIns="0" bIns="0" rtlCol="0" anchor="ctr"/>
          <a:lstStyle/>
          <a:p>
            <a:r>
              <a:rPr lang="en-IN" sz="950" dirty="0">
                <a:solidFill>
                  <a:srgbClr val="E8EDF3"/>
                </a:solidFill>
              </a:rPr>
              <a:t>Year, Month, Website, Consultation Type</a:t>
            </a:r>
            <a:r>
              <a:rPr lang="en-US" sz="950" dirty="0">
                <a:solidFill>
                  <a:srgbClr val="E8EDF3"/>
                </a:solidFill>
              </a:rPr>
              <a:t>Slicers</a:t>
            </a:r>
          </a:p>
        </p:txBody>
      </p:sp>
      <p:sp>
        <p:nvSpPr>
          <p:cNvPr id="27" name="Text 25"/>
          <p:cNvSpPr/>
          <p:nvPr/>
        </p:nvSpPr>
        <p:spPr>
          <a:xfrm>
            <a:off x="2377440" y="3950208"/>
            <a:ext cx="1188720" cy="347472"/>
          </a:xfrm>
          <a:prstGeom prst="rect">
            <a:avLst/>
          </a:prstGeom>
          <a:noFill/>
          <a:ln/>
        </p:spPr>
        <p:txBody>
          <a:bodyPr wrap="square" lIns="0" tIns="0" rIns="0" bIns="0" rtlCol="0" anchor="ctr"/>
          <a:lstStyle/>
          <a:p>
            <a:pPr marL="0" indent="0">
              <a:buNone/>
            </a:pPr>
            <a:r>
              <a:rPr lang="en-US" sz="950" dirty="0">
                <a:solidFill>
                  <a:srgbClr val="4FA8D8"/>
                </a:solidFill>
              </a:rPr>
              <a:t>Filters</a:t>
            </a:r>
            <a:endParaRPr lang="en-US" sz="950" dirty="0"/>
          </a:p>
        </p:txBody>
      </p:sp>
      <p:sp>
        <p:nvSpPr>
          <p:cNvPr id="28" name="Text 26"/>
          <p:cNvSpPr/>
          <p:nvPr/>
        </p:nvSpPr>
        <p:spPr>
          <a:xfrm>
            <a:off x="3611880" y="3950208"/>
            <a:ext cx="1691640" cy="347472"/>
          </a:xfrm>
          <a:prstGeom prst="rect">
            <a:avLst/>
          </a:prstGeom>
          <a:noFill/>
          <a:ln/>
        </p:spPr>
        <p:txBody>
          <a:bodyPr wrap="square" lIns="0" tIns="0" rIns="0" bIns="0" rtlCol="0" anchor="ctr"/>
          <a:lstStyle/>
          <a:p>
            <a:pPr marL="0" indent="0">
              <a:buNone/>
            </a:pPr>
            <a:r>
              <a:rPr lang="en-US" sz="950" dirty="0">
                <a:solidFill>
                  <a:srgbClr val="8DA2B8"/>
                </a:solidFill>
              </a:rPr>
              <a:t>Interactive Slicers</a:t>
            </a:r>
            <a:endParaRPr lang="en-US" sz="950" dirty="0"/>
          </a:p>
        </p:txBody>
      </p:sp>
      <p:sp>
        <p:nvSpPr>
          <p:cNvPr id="30" name="Text 28"/>
          <p:cNvSpPr/>
          <p:nvPr/>
        </p:nvSpPr>
        <p:spPr>
          <a:xfrm>
            <a:off x="5669280" y="813816"/>
            <a:ext cx="2926080" cy="301752"/>
          </a:xfrm>
          <a:prstGeom prst="rect">
            <a:avLst/>
          </a:prstGeom>
          <a:noFill/>
          <a:ln/>
        </p:spPr>
        <p:txBody>
          <a:bodyPr wrap="square" lIns="0" tIns="0" rIns="0" bIns="0" rtlCol="0" anchor="ctr"/>
          <a:lstStyle/>
          <a:p>
            <a:pPr marL="0" indent="0">
              <a:buNone/>
            </a:pPr>
            <a:r>
              <a:rPr lang="en-US" sz="1300" b="1" dirty="0">
                <a:solidFill>
                  <a:srgbClr val="C9A84C"/>
                </a:solidFill>
              </a:rPr>
              <a:t>Excel Tools &amp; Functions</a:t>
            </a:r>
            <a:endParaRPr lang="en-US" sz="1300" dirty="0"/>
          </a:p>
        </p:txBody>
      </p:sp>
      <p:sp>
        <p:nvSpPr>
          <p:cNvPr id="31" name="Shape 29"/>
          <p:cNvSpPr/>
          <p:nvPr/>
        </p:nvSpPr>
        <p:spPr>
          <a:xfrm>
            <a:off x="5669280" y="1280160"/>
            <a:ext cx="91440" cy="91440"/>
          </a:xfrm>
          <a:prstGeom prst="ellipse">
            <a:avLst/>
          </a:prstGeom>
          <a:solidFill>
            <a:srgbClr val="C9A84C"/>
          </a:solidFill>
          <a:ln w="12700">
            <a:solidFill>
              <a:srgbClr val="C9A84C"/>
            </a:solidFill>
            <a:prstDash val="solid"/>
          </a:ln>
        </p:spPr>
        <p:txBody>
          <a:bodyPr/>
          <a:lstStyle/>
          <a:p>
            <a:endParaRPr lang="en-IN"/>
          </a:p>
        </p:txBody>
      </p:sp>
      <p:sp>
        <p:nvSpPr>
          <p:cNvPr id="32" name="Text 30"/>
          <p:cNvSpPr/>
          <p:nvPr/>
        </p:nvSpPr>
        <p:spPr>
          <a:xfrm>
            <a:off x="5833872" y="1204722"/>
            <a:ext cx="2852928" cy="274320"/>
          </a:xfrm>
          <a:prstGeom prst="rect">
            <a:avLst/>
          </a:prstGeom>
          <a:noFill/>
          <a:ln/>
        </p:spPr>
        <p:txBody>
          <a:bodyPr wrap="square" lIns="0" tIns="0" rIns="0" bIns="0" rtlCol="0" anchor="ctr"/>
          <a:lstStyle/>
          <a:p>
            <a:pPr marL="0" indent="0">
              <a:buNone/>
            </a:pPr>
            <a:r>
              <a:rPr lang="en-US" sz="1000" dirty="0">
                <a:solidFill>
                  <a:srgbClr val="E8EDF3"/>
                </a:solidFill>
                <a:latin typeface="Calibri" pitchFamily="34" charset="0"/>
                <a:ea typeface="Calibri" pitchFamily="34" charset="-122"/>
                <a:cs typeface="Calibri" pitchFamily="34" charset="-120"/>
              </a:rPr>
              <a:t>Pivot Tables &amp; Pivot Charts</a:t>
            </a:r>
            <a:endParaRPr lang="en-US" sz="1000" dirty="0"/>
          </a:p>
        </p:txBody>
      </p:sp>
      <p:sp>
        <p:nvSpPr>
          <p:cNvPr id="33" name="Shape 31"/>
          <p:cNvSpPr/>
          <p:nvPr/>
        </p:nvSpPr>
        <p:spPr>
          <a:xfrm>
            <a:off x="5669280" y="1572768"/>
            <a:ext cx="91440" cy="91440"/>
          </a:xfrm>
          <a:prstGeom prst="ellipse">
            <a:avLst/>
          </a:prstGeom>
          <a:solidFill>
            <a:srgbClr val="C9A84C"/>
          </a:solidFill>
          <a:ln w="12700">
            <a:solidFill>
              <a:srgbClr val="C9A84C"/>
            </a:solidFill>
            <a:prstDash val="solid"/>
          </a:ln>
        </p:spPr>
        <p:txBody>
          <a:bodyPr/>
          <a:lstStyle/>
          <a:p>
            <a:endParaRPr lang="en-IN"/>
          </a:p>
        </p:txBody>
      </p:sp>
      <p:sp>
        <p:nvSpPr>
          <p:cNvPr id="34" name="Text 32"/>
          <p:cNvSpPr/>
          <p:nvPr/>
        </p:nvSpPr>
        <p:spPr>
          <a:xfrm>
            <a:off x="5833872" y="1508760"/>
            <a:ext cx="2852928" cy="274320"/>
          </a:xfrm>
          <a:prstGeom prst="rect">
            <a:avLst/>
          </a:prstGeom>
          <a:noFill/>
          <a:ln/>
        </p:spPr>
        <p:txBody>
          <a:bodyPr wrap="square" lIns="0" tIns="0" rIns="0" bIns="0" rtlCol="0" anchor="ctr"/>
          <a:lstStyle/>
          <a:p>
            <a:pPr marL="0" indent="0">
              <a:buNone/>
            </a:pPr>
            <a:r>
              <a:rPr lang="en-US" sz="1000" dirty="0">
                <a:solidFill>
                  <a:srgbClr val="E8EDF3"/>
                </a:solidFill>
                <a:latin typeface="Calibri" pitchFamily="34" charset="0"/>
                <a:ea typeface="Calibri" pitchFamily="34" charset="-122"/>
                <a:cs typeface="Calibri" pitchFamily="34" charset="-120"/>
              </a:rPr>
              <a:t>KPI Cards (linked to Pivot data)</a:t>
            </a:r>
            <a:endParaRPr lang="en-US" sz="1000" dirty="0"/>
          </a:p>
        </p:txBody>
      </p:sp>
      <p:sp>
        <p:nvSpPr>
          <p:cNvPr id="35" name="Shape 33"/>
          <p:cNvSpPr/>
          <p:nvPr/>
        </p:nvSpPr>
        <p:spPr>
          <a:xfrm>
            <a:off x="5669280" y="1865376"/>
            <a:ext cx="91440" cy="91440"/>
          </a:xfrm>
          <a:prstGeom prst="ellipse">
            <a:avLst/>
          </a:prstGeom>
          <a:solidFill>
            <a:srgbClr val="C9A84C"/>
          </a:solidFill>
          <a:ln w="12700">
            <a:solidFill>
              <a:srgbClr val="C9A84C"/>
            </a:solidFill>
            <a:prstDash val="solid"/>
          </a:ln>
        </p:spPr>
        <p:txBody>
          <a:bodyPr/>
          <a:lstStyle/>
          <a:p>
            <a:endParaRPr lang="en-IN"/>
          </a:p>
        </p:txBody>
      </p:sp>
      <p:sp>
        <p:nvSpPr>
          <p:cNvPr id="36" name="Text 34"/>
          <p:cNvSpPr/>
          <p:nvPr/>
        </p:nvSpPr>
        <p:spPr>
          <a:xfrm>
            <a:off x="5833872" y="1801368"/>
            <a:ext cx="2852928" cy="274320"/>
          </a:xfrm>
          <a:prstGeom prst="rect">
            <a:avLst/>
          </a:prstGeom>
          <a:noFill/>
          <a:ln/>
        </p:spPr>
        <p:txBody>
          <a:bodyPr wrap="square" lIns="0" tIns="0" rIns="0" bIns="0" rtlCol="0" anchor="ctr"/>
          <a:lstStyle/>
          <a:p>
            <a:pPr marL="0" indent="0">
              <a:buNone/>
            </a:pPr>
            <a:r>
              <a:rPr lang="en-US" sz="1000" dirty="0">
                <a:solidFill>
                  <a:srgbClr val="E8EDF3"/>
                </a:solidFill>
                <a:latin typeface="Calibri" pitchFamily="34" charset="0"/>
                <a:ea typeface="Calibri" pitchFamily="34" charset="-122"/>
                <a:cs typeface="Calibri" pitchFamily="34" charset="-120"/>
              </a:rPr>
              <a:t>Slicers — Country, Year, Month</a:t>
            </a:r>
            <a:endParaRPr lang="en-US" sz="1000" dirty="0"/>
          </a:p>
        </p:txBody>
      </p:sp>
      <p:sp>
        <p:nvSpPr>
          <p:cNvPr id="37" name="Shape 35"/>
          <p:cNvSpPr/>
          <p:nvPr/>
        </p:nvSpPr>
        <p:spPr>
          <a:xfrm>
            <a:off x="5669280" y="2157984"/>
            <a:ext cx="91440" cy="91440"/>
          </a:xfrm>
          <a:prstGeom prst="ellipse">
            <a:avLst/>
          </a:prstGeom>
          <a:solidFill>
            <a:srgbClr val="C9A84C"/>
          </a:solidFill>
          <a:ln w="12700">
            <a:solidFill>
              <a:srgbClr val="C9A84C"/>
            </a:solidFill>
            <a:prstDash val="solid"/>
          </a:ln>
        </p:spPr>
        <p:txBody>
          <a:bodyPr/>
          <a:lstStyle/>
          <a:p>
            <a:endParaRPr lang="en-IN"/>
          </a:p>
        </p:txBody>
      </p:sp>
      <p:sp>
        <p:nvSpPr>
          <p:cNvPr id="38" name="Text 36"/>
          <p:cNvSpPr/>
          <p:nvPr/>
        </p:nvSpPr>
        <p:spPr>
          <a:xfrm>
            <a:off x="5833872" y="2093976"/>
            <a:ext cx="2852928" cy="274320"/>
          </a:xfrm>
          <a:prstGeom prst="rect">
            <a:avLst/>
          </a:prstGeom>
          <a:noFill/>
          <a:ln/>
        </p:spPr>
        <p:txBody>
          <a:bodyPr wrap="square" lIns="0" tIns="0" rIns="0" bIns="0" rtlCol="0" anchor="ctr"/>
          <a:lstStyle/>
          <a:p>
            <a:r>
              <a:rPr lang="en-IN" sz="1000">
                <a:solidFill>
                  <a:srgbClr val="E8EDF3"/>
                </a:solidFill>
                <a:latin typeface="Calibri" pitchFamily="34" charset="0"/>
                <a:ea typeface="Calibri" pitchFamily="34" charset="-122"/>
                <a:cs typeface="Calibri" pitchFamily="34" charset="-120"/>
              </a:rPr>
              <a:t>SUM() — Revenue analysis</a:t>
            </a:r>
            <a:endParaRPr lang="en-IN" sz="800" dirty="0">
              <a:solidFill>
                <a:srgbClr val="E8EDF3"/>
              </a:solidFill>
              <a:latin typeface="Calibri" pitchFamily="34" charset="0"/>
              <a:ea typeface="Calibri" pitchFamily="34" charset="-122"/>
              <a:cs typeface="Calibri" pitchFamily="34" charset="-120"/>
            </a:endParaRPr>
          </a:p>
        </p:txBody>
      </p:sp>
      <p:sp>
        <p:nvSpPr>
          <p:cNvPr id="39" name="Shape 37"/>
          <p:cNvSpPr/>
          <p:nvPr/>
        </p:nvSpPr>
        <p:spPr>
          <a:xfrm>
            <a:off x="5669280" y="2450592"/>
            <a:ext cx="91440" cy="91440"/>
          </a:xfrm>
          <a:prstGeom prst="ellipse">
            <a:avLst/>
          </a:prstGeom>
          <a:solidFill>
            <a:srgbClr val="C9A84C"/>
          </a:solidFill>
          <a:ln w="12700">
            <a:solidFill>
              <a:srgbClr val="C9A84C"/>
            </a:solidFill>
            <a:prstDash val="solid"/>
          </a:ln>
        </p:spPr>
        <p:txBody>
          <a:bodyPr/>
          <a:lstStyle/>
          <a:p>
            <a:endParaRPr lang="en-IN"/>
          </a:p>
        </p:txBody>
      </p:sp>
      <p:sp>
        <p:nvSpPr>
          <p:cNvPr id="40" name="Text 38"/>
          <p:cNvSpPr/>
          <p:nvPr/>
        </p:nvSpPr>
        <p:spPr>
          <a:xfrm>
            <a:off x="5833872" y="2386584"/>
            <a:ext cx="2852928" cy="274320"/>
          </a:xfrm>
          <a:prstGeom prst="rect">
            <a:avLst/>
          </a:prstGeom>
          <a:noFill/>
          <a:ln/>
        </p:spPr>
        <p:txBody>
          <a:bodyPr wrap="square" lIns="0" tIns="0" rIns="0" bIns="0" rtlCol="0" anchor="ctr"/>
          <a:lstStyle/>
          <a:p>
            <a:pPr marL="0" indent="0">
              <a:buNone/>
            </a:pPr>
            <a:r>
              <a:rPr lang="en-US" sz="1000" dirty="0">
                <a:solidFill>
                  <a:srgbClr val="E8EDF3"/>
                </a:solidFill>
                <a:latin typeface="Consolas" pitchFamily="34" charset="0"/>
                <a:ea typeface="Consolas" pitchFamily="34" charset="-122"/>
                <a:cs typeface="Consolas" pitchFamily="34" charset="-120"/>
              </a:rPr>
              <a:t>CORREL() — correlation analysis</a:t>
            </a:r>
            <a:endParaRPr lang="en-US" sz="1000" dirty="0"/>
          </a:p>
        </p:txBody>
      </p:sp>
      <p:sp>
        <p:nvSpPr>
          <p:cNvPr id="41" name="Shape 39"/>
          <p:cNvSpPr/>
          <p:nvPr/>
        </p:nvSpPr>
        <p:spPr>
          <a:xfrm>
            <a:off x="5669280" y="2743200"/>
            <a:ext cx="91440" cy="91440"/>
          </a:xfrm>
          <a:prstGeom prst="ellipse">
            <a:avLst/>
          </a:prstGeom>
          <a:solidFill>
            <a:srgbClr val="C9A84C"/>
          </a:solidFill>
          <a:ln w="12700">
            <a:solidFill>
              <a:srgbClr val="C9A84C"/>
            </a:solidFill>
            <a:prstDash val="solid"/>
          </a:ln>
        </p:spPr>
        <p:txBody>
          <a:bodyPr/>
          <a:lstStyle/>
          <a:p>
            <a:endParaRPr lang="en-IN"/>
          </a:p>
        </p:txBody>
      </p:sp>
      <p:sp>
        <p:nvSpPr>
          <p:cNvPr id="42" name="Text 40"/>
          <p:cNvSpPr/>
          <p:nvPr/>
        </p:nvSpPr>
        <p:spPr>
          <a:xfrm>
            <a:off x="5833872" y="2679192"/>
            <a:ext cx="2852928" cy="274320"/>
          </a:xfrm>
          <a:prstGeom prst="rect">
            <a:avLst/>
          </a:prstGeom>
          <a:noFill/>
          <a:ln/>
        </p:spPr>
        <p:txBody>
          <a:bodyPr wrap="square" lIns="0" tIns="0" rIns="0" bIns="0" rtlCol="0" anchor="ctr"/>
          <a:lstStyle/>
          <a:p>
            <a:r>
              <a:rPr lang="en-IN" sz="1000" dirty="0">
                <a:solidFill>
                  <a:srgbClr val="E8EDF3"/>
                </a:solidFill>
                <a:latin typeface="Consolas" pitchFamily="34" charset="0"/>
              </a:rPr>
              <a:t>MAX() / MIN() — Peak call volume</a:t>
            </a:r>
            <a:endParaRPr lang="en-US" sz="1000" dirty="0">
              <a:solidFill>
                <a:srgbClr val="E8EDF3"/>
              </a:solidFill>
              <a:latin typeface="Consolas" pitchFamily="34" charset="0"/>
            </a:endParaRPr>
          </a:p>
        </p:txBody>
      </p:sp>
      <p:sp>
        <p:nvSpPr>
          <p:cNvPr id="43" name="Shape 41"/>
          <p:cNvSpPr/>
          <p:nvPr/>
        </p:nvSpPr>
        <p:spPr>
          <a:xfrm>
            <a:off x="5669280" y="3035808"/>
            <a:ext cx="91440" cy="91440"/>
          </a:xfrm>
          <a:prstGeom prst="ellipse">
            <a:avLst/>
          </a:prstGeom>
          <a:solidFill>
            <a:srgbClr val="C9A84C"/>
          </a:solidFill>
          <a:ln w="12700">
            <a:solidFill>
              <a:srgbClr val="C9A84C"/>
            </a:solidFill>
            <a:prstDash val="solid"/>
          </a:ln>
        </p:spPr>
        <p:txBody>
          <a:bodyPr/>
          <a:lstStyle/>
          <a:p>
            <a:endParaRPr lang="en-IN"/>
          </a:p>
        </p:txBody>
      </p:sp>
      <p:sp>
        <p:nvSpPr>
          <p:cNvPr id="44" name="Text 42"/>
          <p:cNvSpPr/>
          <p:nvPr/>
        </p:nvSpPr>
        <p:spPr>
          <a:xfrm>
            <a:off x="5833872" y="2971800"/>
            <a:ext cx="2852928" cy="274320"/>
          </a:xfrm>
          <a:prstGeom prst="rect">
            <a:avLst/>
          </a:prstGeom>
          <a:noFill/>
          <a:ln/>
        </p:spPr>
        <p:txBody>
          <a:bodyPr wrap="square" lIns="0" tIns="0" rIns="0" bIns="0" rtlCol="0" anchor="ctr"/>
          <a:lstStyle/>
          <a:p>
            <a:pPr marL="0" indent="0">
              <a:buNone/>
            </a:pPr>
            <a:r>
              <a:rPr lang="en-US" sz="1000" dirty="0">
                <a:solidFill>
                  <a:srgbClr val="E8EDF3"/>
                </a:solidFill>
                <a:latin typeface="Consolas" pitchFamily="34" charset="0"/>
                <a:ea typeface="Consolas" pitchFamily="34" charset="-122"/>
                <a:cs typeface="Consolas" pitchFamily="34" charset="-120"/>
              </a:rPr>
              <a:t>IF / ISBLANK / UPPER / TRIM</a:t>
            </a:r>
            <a:endParaRPr lang="en-US" sz="1000" dirty="0"/>
          </a:p>
        </p:txBody>
      </p:sp>
      <p:sp>
        <p:nvSpPr>
          <p:cNvPr id="45" name="Shape 43"/>
          <p:cNvSpPr/>
          <p:nvPr/>
        </p:nvSpPr>
        <p:spPr>
          <a:xfrm>
            <a:off x="5669280" y="3328416"/>
            <a:ext cx="91440" cy="91440"/>
          </a:xfrm>
          <a:prstGeom prst="ellipse">
            <a:avLst/>
          </a:prstGeom>
          <a:solidFill>
            <a:srgbClr val="C9A84C"/>
          </a:solidFill>
          <a:ln w="12700">
            <a:solidFill>
              <a:srgbClr val="C9A84C"/>
            </a:solidFill>
            <a:prstDash val="solid"/>
          </a:ln>
        </p:spPr>
        <p:txBody>
          <a:bodyPr/>
          <a:lstStyle/>
          <a:p>
            <a:endParaRPr lang="en-IN"/>
          </a:p>
        </p:txBody>
      </p:sp>
      <p:sp>
        <p:nvSpPr>
          <p:cNvPr id="46" name="Text 44"/>
          <p:cNvSpPr/>
          <p:nvPr/>
        </p:nvSpPr>
        <p:spPr>
          <a:xfrm>
            <a:off x="5833872" y="3264408"/>
            <a:ext cx="2852928" cy="274320"/>
          </a:xfrm>
          <a:prstGeom prst="rect">
            <a:avLst/>
          </a:prstGeom>
          <a:noFill/>
          <a:ln/>
        </p:spPr>
        <p:txBody>
          <a:bodyPr wrap="square" lIns="0" tIns="0" rIns="0" bIns="0" rtlCol="0" anchor="ctr"/>
          <a:lstStyle/>
          <a:p>
            <a:pPr marL="0" indent="0">
              <a:buNone/>
            </a:pPr>
            <a:r>
              <a:rPr lang="en-US" sz="1000" dirty="0">
                <a:solidFill>
                  <a:srgbClr val="E8EDF3"/>
                </a:solidFill>
                <a:latin typeface="Consolas" pitchFamily="34" charset="0"/>
                <a:ea typeface="Consolas" pitchFamily="34" charset="-122"/>
                <a:cs typeface="Consolas" pitchFamily="34" charset="-120"/>
              </a:rPr>
              <a:t>INT() — date extraction from timestamps</a:t>
            </a:r>
            <a:endParaRPr lang="en-US" sz="1000" dirty="0"/>
          </a:p>
        </p:txBody>
      </p:sp>
      <p:sp>
        <p:nvSpPr>
          <p:cNvPr id="47" name="Shape 45"/>
          <p:cNvSpPr/>
          <p:nvPr/>
        </p:nvSpPr>
        <p:spPr>
          <a:xfrm>
            <a:off x="5669280" y="3621024"/>
            <a:ext cx="91440" cy="91440"/>
          </a:xfrm>
          <a:prstGeom prst="ellipse">
            <a:avLst/>
          </a:prstGeom>
          <a:solidFill>
            <a:srgbClr val="C9A84C"/>
          </a:solidFill>
          <a:ln w="12700">
            <a:solidFill>
              <a:srgbClr val="C9A84C"/>
            </a:solidFill>
            <a:prstDash val="solid"/>
          </a:ln>
        </p:spPr>
        <p:txBody>
          <a:bodyPr/>
          <a:lstStyle/>
          <a:p>
            <a:endParaRPr lang="en-IN"/>
          </a:p>
        </p:txBody>
      </p:sp>
      <p:sp>
        <p:nvSpPr>
          <p:cNvPr id="48" name="Text 46"/>
          <p:cNvSpPr/>
          <p:nvPr/>
        </p:nvSpPr>
        <p:spPr>
          <a:xfrm>
            <a:off x="5833872" y="3557016"/>
            <a:ext cx="2852928" cy="274320"/>
          </a:xfrm>
          <a:prstGeom prst="rect">
            <a:avLst/>
          </a:prstGeom>
          <a:noFill/>
          <a:ln/>
        </p:spPr>
        <p:txBody>
          <a:bodyPr wrap="square" lIns="0" tIns="0" rIns="0" bIns="0" rtlCol="0" anchor="ctr"/>
          <a:lstStyle/>
          <a:p>
            <a:pPr marL="0" indent="0">
              <a:buNone/>
            </a:pPr>
            <a:r>
              <a:rPr lang="en-US" sz="1000" dirty="0">
                <a:solidFill>
                  <a:srgbClr val="E8EDF3"/>
                </a:solidFill>
                <a:latin typeface="Consolas" pitchFamily="34" charset="0"/>
                <a:ea typeface="Consolas" pitchFamily="34" charset="-122"/>
                <a:cs typeface="Consolas" pitchFamily="34" charset="-120"/>
              </a:rPr>
              <a:t>UNIQUE() — duplicate detection check</a:t>
            </a:r>
            <a:endParaRPr lang="en-US" sz="1000" dirty="0"/>
          </a:p>
        </p:txBody>
      </p:sp>
      <p:sp>
        <p:nvSpPr>
          <p:cNvPr id="49" name="Shape 47"/>
          <p:cNvSpPr/>
          <p:nvPr/>
        </p:nvSpPr>
        <p:spPr>
          <a:xfrm>
            <a:off x="5669280" y="3913632"/>
            <a:ext cx="91440" cy="91440"/>
          </a:xfrm>
          <a:prstGeom prst="ellipse">
            <a:avLst/>
          </a:prstGeom>
          <a:solidFill>
            <a:srgbClr val="C9A84C"/>
          </a:solidFill>
          <a:ln w="12700">
            <a:solidFill>
              <a:srgbClr val="C9A84C"/>
            </a:solidFill>
            <a:prstDash val="solid"/>
          </a:ln>
        </p:spPr>
        <p:txBody>
          <a:bodyPr/>
          <a:lstStyle/>
          <a:p>
            <a:endParaRPr lang="en-IN"/>
          </a:p>
        </p:txBody>
      </p:sp>
      <p:sp>
        <p:nvSpPr>
          <p:cNvPr id="50" name="Text 48"/>
          <p:cNvSpPr/>
          <p:nvPr/>
        </p:nvSpPr>
        <p:spPr>
          <a:xfrm>
            <a:off x="5833872" y="3849624"/>
            <a:ext cx="2852928" cy="274320"/>
          </a:xfrm>
          <a:prstGeom prst="rect">
            <a:avLst/>
          </a:prstGeom>
          <a:noFill/>
          <a:ln/>
        </p:spPr>
        <p:txBody>
          <a:bodyPr wrap="square" lIns="0" tIns="0" rIns="0" bIns="0" rtlCol="0" anchor="ctr"/>
          <a:lstStyle/>
          <a:p>
            <a:pPr marL="0" indent="0">
              <a:buNone/>
            </a:pPr>
            <a:r>
              <a:rPr lang="en-US" sz="1000" dirty="0">
                <a:solidFill>
                  <a:srgbClr val="E8EDF3"/>
                </a:solidFill>
                <a:latin typeface="Calibri" pitchFamily="34" charset="0"/>
                <a:ea typeface="Calibri" pitchFamily="34" charset="-122"/>
                <a:cs typeface="Calibri" pitchFamily="34" charset="-120"/>
              </a:rPr>
              <a:t>Conditional Formatting on KPIs</a:t>
            </a:r>
            <a:endParaRPr lang="en-US" sz="1000" dirty="0"/>
          </a:p>
        </p:txBody>
      </p:sp>
      <p:sp>
        <p:nvSpPr>
          <p:cNvPr id="51" name="Shape 49"/>
          <p:cNvSpPr/>
          <p:nvPr/>
        </p:nvSpPr>
        <p:spPr>
          <a:xfrm>
            <a:off x="5669280" y="4206240"/>
            <a:ext cx="91440" cy="91440"/>
          </a:xfrm>
          <a:prstGeom prst="ellipse">
            <a:avLst/>
          </a:prstGeom>
          <a:solidFill>
            <a:srgbClr val="C9A84C"/>
          </a:solidFill>
          <a:ln w="12700">
            <a:solidFill>
              <a:srgbClr val="C9A84C"/>
            </a:solidFill>
            <a:prstDash val="solid"/>
          </a:ln>
        </p:spPr>
        <p:txBody>
          <a:bodyPr/>
          <a:lstStyle/>
          <a:p>
            <a:endParaRPr lang="en-IN"/>
          </a:p>
        </p:txBody>
      </p:sp>
      <p:sp>
        <p:nvSpPr>
          <p:cNvPr id="52" name="Text 50"/>
          <p:cNvSpPr/>
          <p:nvPr/>
        </p:nvSpPr>
        <p:spPr>
          <a:xfrm>
            <a:off x="5833872" y="4142232"/>
            <a:ext cx="2852928" cy="274320"/>
          </a:xfrm>
          <a:prstGeom prst="rect">
            <a:avLst/>
          </a:prstGeom>
          <a:noFill/>
          <a:ln/>
        </p:spPr>
        <p:txBody>
          <a:bodyPr wrap="square" lIns="0" tIns="0" rIns="0" bIns="0" rtlCol="0" anchor="ctr"/>
          <a:lstStyle/>
          <a:p>
            <a:pPr marL="0" indent="0">
              <a:buNone/>
            </a:pPr>
            <a:r>
              <a:rPr lang="en-US" sz="1000" dirty="0">
                <a:solidFill>
                  <a:srgbClr val="E8EDF3"/>
                </a:solidFill>
                <a:latin typeface="Calibri" pitchFamily="34" charset="0"/>
                <a:ea typeface="Calibri" pitchFamily="34" charset="-122"/>
                <a:cs typeface="Calibri" pitchFamily="34" charset="-120"/>
              </a:rPr>
              <a:t>Chart formatting with custom colours</a:t>
            </a:r>
            <a:endParaRPr lang="en-US" sz="1000" dirty="0"/>
          </a:p>
        </p:txBody>
      </p:sp>
      <p:sp>
        <p:nvSpPr>
          <p:cNvPr id="53" name="Shape 51"/>
          <p:cNvSpPr/>
          <p:nvPr/>
        </p:nvSpPr>
        <p:spPr>
          <a:xfrm>
            <a:off x="5669280" y="4498848"/>
            <a:ext cx="91440" cy="91440"/>
          </a:xfrm>
          <a:prstGeom prst="ellipse">
            <a:avLst/>
          </a:prstGeom>
          <a:solidFill>
            <a:srgbClr val="C9A84C"/>
          </a:solidFill>
          <a:ln w="12700">
            <a:solidFill>
              <a:srgbClr val="C9A84C"/>
            </a:solidFill>
            <a:prstDash val="solid"/>
          </a:ln>
        </p:spPr>
        <p:txBody>
          <a:bodyPr/>
          <a:lstStyle/>
          <a:p>
            <a:endParaRPr lang="en-IN"/>
          </a:p>
        </p:txBody>
      </p:sp>
      <p:sp>
        <p:nvSpPr>
          <p:cNvPr id="54" name="Text 52"/>
          <p:cNvSpPr/>
          <p:nvPr/>
        </p:nvSpPr>
        <p:spPr>
          <a:xfrm>
            <a:off x="5833872" y="4434840"/>
            <a:ext cx="2852928" cy="274320"/>
          </a:xfrm>
          <a:prstGeom prst="rect">
            <a:avLst/>
          </a:prstGeom>
          <a:noFill/>
          <a:ln/>
        </p:spPr>
        <p:txBody>
          <a:bodyPr wrap="square" lIns="0" tIns="0" rIns="0" bIns="0" rtlCol="0" anchor="ctr"/>
          <a:lstStyle/>
          <a:p>
            <a:pPr marL="0" indent="0">
              <a:buNone/>
            </a:pPr>
            <a:r>
              <a:rPr lang="en-US" sz="1000" dirty="0">
                <a:solidFill>
                  <a:srgbClr val="E8EDF3"/>
                </a:solidFill>
                <a:latin typeface="Calibri" pitchFamily="34" charset="0"/>
                <a:ea typeface="Calibri" pitchFamily="34" charset="-122"/>
                <a:cs typeface="Calibri" pitchFamily="34" charset="-120"/>
              </a:rPr>
              <a:t>Dynamic slicer-linked dashboard</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C73AB850-410D-EC2F-5AB9-67694EF7F48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1868513-E66B-F585-ED1E-5E6B2F8A8662}"/>
              </a:ext>
            </a:extLst>
          </p:cNvPr>
          <p:cNvSpPr/>
          <p:nvPr/>
        </p:nvSpPr>
        <p:spPr>
          <a:xfrm>
            <a:off x="690372" y="173736"/>
            <a:ext cx="7315200" cy="411480"/>
          </a:xfrm>
          <a:prstGeom prst="rect">
            <a:avLst/>
          </a:prstGeom>
          <a:noFill/>
          <a:ln/>
        </p:spPr>
        <p:txBody>
          <a:bodyPr wrap="square" lIns="0" tIns="0" rIns="0" bIns="0" rtlCol="0" anchor="ctr"/>
          <a:lstStyle/>
          <a:p>
            <a:pPr marL="0" indent="0">
              <a:buNone/>
            </a:pPr>
            <a:r>
              <a:rPr lang="en-US" sz="2400" b="1" dirty="0">
                <a:solidFill>
                  <a:srgbClr val="FFFFFF"/>
                </a:solidFill>
              </a:rPr>
              <a:t>Excel Dashboard</a:t>
            </a:r>
            <a:endParaRPr lang="en-US" sz="2400" dirty="0"/>
          </a:p>
        </p:txBody>
      </p:sp>
      <p:sp>
        <p:nvSpPr>
          <p:cNvPr id="50" name="Text 48">
            <a:extLst>
              <a:ext uri="{FF2B5EF4-FFF2-40B4-BE49-F238E27FC236}">
                <a16:creationId xmlns:a16="http://schemas.microsoft.com/office/drawing/2014/main" id="{C75EE430-9E18-DFA5-22C2-9D8A81961AC7}"/>
              </a:ext>
            </a:extLst>
          </p:cNvPr>
          <p:cNvSpPr/>
          <p:nvPr/>
        </p:nvSpPr>
        <p:spPr>
          <a:xfrm>
            <a:off x="5833872" y="3849624"/>
            <a:ext cx="2852928" cy="274320"/>
          </a:xfrm>
          <a:prstGeom prst="rect">
            <a:avLst/>
          </a:prstGeom>
          <a:noFill/>
          <a:ln/>
        </p:spPr>
        <p:txBody>
          <a:bodyPr wrap="square" lIns="0" tIns="0" rIns="0" bIns="0" rtlCol="0" anchor="ctr"/>
          <a:lstStyle/>
          <a:p>
            <a:pPr marL="0" indent="0">
              <a:buNone/>
            </a:pPr>
            <a:endParaRPr lang="en-US" sz="1000" dirty="0"/>
          </a:p>
        </p:txBody>
      </p:sp>
      <p:sp>
        <p:nvSpPr>
          <p:cNvPr id="52" name="Text 50">
            <a:extLst>
              <a:ext uri="{FF2B5EF4-FFF2-40B4-BE49-F238E27FC236}">
                <a16:creationId xmlns:a16="http://schemas.microsoft.com/office/drawing/2014/main" id="{8D68487A-DAD0-9967-5EE2-CD5B1C655455}"/>
              </a:ext>
            </a:extLst>
          </p:cNvPr>
          <p:cNvSpPr/>
          <p:nvPr/>
        </p:nvSpPr>
        <p:spPr>
          <a:xfrm>
            <a:off x="5833872" y="4142232"/>
            <a:ext cx="2852928" cy="274320"/>
          </a:xfrm>
          <a:prstGeom prst="rect">
            <a:avLst/>
          </a:prstGeom>
          <a:noFill/>
          <a:ln/>
        </p:spPr>
        <p:txBody>
          <a:bodyPr wrap="square" lIns="0" tIns="0" rIns="0" bIns="0" rtlCol="0" anchor="ctr"/>
          <a:lstStyle/>
          <a:p>
            <a:pPr marL="0" indent="0">
              <a:buNone/>
            </a:pPr>
            <a:endParaRPr lang="en-US" sz="1000" dirty="0"/>
          </a:p>
        </p:txBody>
      </p:sp>
      <p:sp>
        <p:nvSpPr>
          <p:cNvPr id="54" name="Text 52">
            <a:extLst>
              <a:ext uri="{FF2B5EF4-FFF2-40B4-BE49-F238E27FC236}">
                <a16:creationId xmlns:a16="http://schemas.microsoft.com/office/drawing/2014/main" id="{42463D71-50E2-8A73-C6A9-F35244B2B36E}"/>
              </a:ext>
            </a:extLst>
          </p:cNvPr>
          <p:cNvSpPr/>
          <p:nvPr/>
        </p:nvSpPr>
        <p:spPr>
          <a:xfrm>
            <a:off x="5833872" y="4434840"/>
            <a:ext cx="2852928" cy="274320"/>
          </a:xfrm>
          <a:prstGeom prst="rect">
            <a:avLst/>
          </a:prstGeom>
          <a:noFill/>
          <a:ln/>
        </p:spPr>
        <p:txBody>
          <a:bodyPr wrap="square" lIns="0" tIns="0" rIns="0" bIns="0" rtlCol="0" anchor="ctr"/>
          <a:lstStyle/>
          <a:p>
            <a:pPr marL="0" indent="0">
              <a:buNone/>
            </a:pPr>
            <a:endParaRPr lang="en-US" sz="1000" dirty="0"/>
          </a:p>
        </p:txBody>
      </p:sp>
      <p:pic>
        <p:nvPicPr>
          <p:cNvPr id="7" name="Picture 6">
            <a:extLst>
              <a:ext uri="{FF2B5EF4-FFF2-40B4-BE49-F238E27FC236}">
                <a16:creationId xmlns:a16="http://schemas.microsoft.com/office/drawing/2014/main" id="{479C6643-7554-7166-932F-E82ECBADC350}"/>
              </a:ext>
            </a:extLst>
          </p:cNvPr>
          <p:cNvPicPr>
            <a:picLocks noChangeAspect="1"/>
          </p:cNvPicPr>
          <p:nvPr/>
        </p:nvPicPr>
        <p:blipFill>
          <a:blip r:embed="rId3"/>
          <a:stretch>
            <a:fillRect/>
          </a:stretch>
        </p:blipFill>
        <p:spPr>
          <a:xfrm>
            <a:off x="690372" y="726948"/>
            <a:ext cx="7539228" cy="4133810"/>
          </a:xfrm>
          <a:prstGeom prst="rect">
            <a:avLst/>
          </a:prstGeom>
        </p:spPr>
      </p:pic>
    </p:spTree>
    <p:extLst>
      <p:ext uri="{BB962C8B-B14F-4D97-AF65-F5344CB8AC3E}">
        <p14:creationId xmlns:p14="http://schemas.microsoft.com/office/powerpoint/2010/main" val="3183414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4" name="Text 2"/>
          <p:cNvSpPr/>
          <p:nvPr/>
        </p:nvSpPr>
        <p:spPr>
          <a:xfrm>
            <a:off x="720852" y="196596"/>
            <a:ext cx="7315200" cy="411480"/>
          </a:xfrm>
          <a:prstGeom prst="rect">
            <a:avLst/>
          </a:prstGeom>
          <a:noFill/>
          <a:ln/>
        </p:spPr>
        <p:txBody>
          <a:bodyPr wrap="square" lIns="0" tIns="0" rIns="0" bIns="0" rtlCol="0" anchor="ctr"/>
          <a:lstStyle/>
          <a:p>
            <a:pPr marL="0" indent="0">
              <a:buNone/>
            </a:pPr>
            <a:r>
              <a:rPr lang="en-US" sz="2400" b="1" dirty="0">
                <a:solidFill>
                  <a:srgbClr val="FFFFFF"/>
                </a:solidFill>
              </a:rPr>
              <a:t>Strategic Recommendations</a:t>
            </a:r>
            <a:endParaRPr lang="en-US" sz="2400" dirty="0"/>
          </a:p>
        </p:txBody>
      </p:sp>
      <p:sp>
        <p:nvSpPr>
          <p:cNvPr id="5" name="Shape 3"/>
          <p:cNvSpPr/>
          <p:nvPr/>
        </p:nvSpPr>
        <p:spPr>
          <a:xfrm>
            <a:off x="301752" y="769619"/>
            <a:ext cx="8524614" cy="3542499"/>
          </a:xfrm>
          <a:prstGeom prst="rect">
            <a:avLst/>
          </a:prstGeom>
          <a:solidFill>
            <a:srgbClr val="1B2B3E"/>
          </a:solidFill>
          <a:ln w="12700">
            <a:solidFill>
              <a:srgbClr val="22395A"/>
            </a:solidFill>
            <a:prstDash val="solid"/>
          </a:ln>
          <a:effectLst>
            <a:outerShdw blurRad="101600" dist="25400" dir="8100000" algn="bl" rotWithShape="0">
              <a:srgbClr val="000000">
                <a:alpha val="25000"/>
              </a:srgbClr>
            </a:outerShdw>
          </a:effectLst>
        </p:spPr>
        <p:txBody>
          <a:bodyPr/>
          <a:lstStyle/>
          <a:p>
            <a:pPr marL="285750" indent="-285750">
              <a:lnSpc>
                <a:spcPct val="150000"/>
              </a:lnSpc>
              <a:buFont typeface="Arial" panose="020B0604020202020204" pitchFamily="34" charset="0"/>
              <a:buChar char="•"/>
            </a:pPr>
            <a:r>
              <a:rPr lang="en-IN" dirty="0">
                <a:solidFill>
                  <a:schemeClr val="bg1"/>
                </a:solidFill>
              </a:rPr>
              <a:t>Improve call completion through callback scheduling and real-time guru availability. </a:t>
            </a:r>
          </a:p>
          <a:p>
            <a:pPr marL="285750" indent="-285750">
              <a:lnSpc>
                <a:spcPct val="150000"/>
              </a:lnSpc>
              <a:buFont typeface="Arial" panose="020B0604020202020204" pitchFamily="34" charset="0"/>
              <a:buChar char="•"/>
            </a:pPr>
            <a:r>
              <a:rPr lang="en-IN" dirty="0">
                <a:solidFill>
                  <a:schemeClr val="bg1"/>
                </a:solidFill>
              </a:rPr>
              <a:t>Encourage chat-to-call conversion to increase revenue. </a:t>
            </a:r>
          </a:p>
          <a:p>
            <a:pPr marL="285750" indent="-285750">
              <a:lnSpc>
                <a:spcPct val="150000"/>
              </a:lnSpc>
              <a:buFont typeface="Arial" panose="020B0604020202020204" pitchFamily="34" charset="0"/>
              <a:buChar char="•"/>
            </a:pPr>
            <a:r>
              <a:rPr lang="en-IN" dirty="0">
                <a:solidFill>
                  <a:schemeClr val="bg1"/>
                </a:solidFill>
              </a:rPr>
              <a:t>Differentiate unrated sessions from genuine zero ratings for accurate satisfaction analysis. </a:t>
            </a:r>
          </a:p>
          <a:p>
            <a:pPr marL="285750" indent="-285750">
              <a:lnSpc>
                <a:spcPct val="150000"/>
              </a:lnSpc>
              <a:buFont typeface="Arial" panose="020B0604020202020204" pitchFamily="34" charset="0"/>
              <a:buChar char="•"/>
            </a:pPr>
            <a:r>
              <a:rPr lang="en-IN" dirty="0">
                <a:solidFill>
                  <a:schemeClr val="bg1"/>
                </a:solidFill>
              </a:rPr>
              <a:t>Train and monitor low-rated gurus while promoting high-performing gurus. </a:t>
            </a:r>
          </a:p>
          <a:p>
            <a:pPr marL="285750" indent="-285750">
              <a:lnSpc>
                <a:spcPct val="150000"/>
              </a:lnSpc>
              <a:buFont typeface="Arial" panose="020B0604020202020204" pitchFamily="34" charset="0"/>
              <a:buChar char="•"/>
            </a:pPr>
            <a:r>
              <a:rPr lang="en-IN" dirty="0">
                <a:solidFill>
                  <a:schemeClr val="bg1"/>
                </a:solidFill>
              </a:rPr>
              <a:t>Optimize guru availability during peak hours (6–10 AM). </a:t>
            </a:r>
          </a:p>
          <a:p>
            <a:pPr marL="285750" indent="-285750">
              <a:lnSpc>
                <a:spcPct val="150000"/>
              </a:lnSpc>
              <a:buFont typeface="Arial" panose="020B0604020202020204" pitchFamily="34" charset="0"/>
              <a:buChar char="•"/>
            </a:pPr>
            <a:r>
              <a:rPr lang="en-IN" dirty="0">
                <a:solidFill>
                  <a:schemeClr val="bg1"/>
                </a:solidFill>
              </a:rPr>
              <a:t>Grow the App through targeted promotions and exclusive features. </a:t>
            </a:r>
          </a:p>
          <a:p>
            <a:pPr marL="285750" indent="-285750">
              <a:lnSpc>
                <a:spcPct val="150000"/>
              </a:lnSpc>
              <a:buFont typeface="Arial" panose="020B0604020202020204" pitchFamily="34" charset="0"/>
              <a:buChar char="•"/>
            </a:pPr>
            <a:r>
              <a:rPr lang="en-IN" dirty="0">
                <a:solidFill>
                  <a:schemeClr val="bg1"/>
                </a:solidFill>
              </a:rPr>
              <a:t>Rebalance guru workloads and introduce performance-based incentives.</a:t>
            </a:r>
          </a:p>
        </p:txBody>
      </p:sp>
      <p:sp>
        <p:nvSpPr>
          <p:cNvPr id="44" name="Text 42"/>
          <p:cNvSpPr/>
          <p:nvPr/>
        </p:nvSpPr>
        <p:spPr>
          <a:xfrm>
            <a:off x="1920240" y="4599432"/>
            <a:ext cx="2560320" cy="274320"/>
          </a:xfrm>
          <a:prstGeom prst="rect">
            <a:avLst/>
          </a:prstGeom>
          <a:noFill/>
          <a:ln/>
        </p:spPr>
        <p:txBody>
          <a:bodyPr wrap="square" lIns="0" tIns="0" rIns="0" bIns="0" rtlCol="0" anchor="ctr"/>
          <a:lstStyle/>
          <a:p>
            <a:pPr marL="0" indent="0">
              <a:buNone/>
            </a:pP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15B0B8DE-090D-39C1-35D5-888C15271019}"/>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5BBD0CA5-9824-DCFE-B88F-709B8BF04A65}"/>
              </a:ext>
            </a:extLst>
          </p:cNvPr>
          <p:cNvSpPr/>
          <p:nvPr/>
        </p:nvSpPr>
        <p:spPr>
          <a:xfrm>
            <a:off x="621792" y="201168"/>
            <a:ext cx="7315200" cy="411480"/>
          </a:xfrm>
          <a:prstGeom prst="rect">
            <a:avLst/>
          </a:prstGeom>
          <a:noFill/>
          <a:ln/>
        </p:spPr>
        <p:txBody>
          <a:bodyPr wrap="square" lIns="0" tIns="0" rIns="0" bIns="0" rtlCol="0" anchor="ctr"/>
          <a:lstStyle/>
          <a:p>
            <a:pPr marL="0" indent="0">
              <a:buNone/>
            </a:pPr>
            <a:r>
              <a:rPr lang="en-US" sz="2400" b="1" dirty="0">
                <a:solidFill>
                  <a:schemeClr val="bg1"/>
                </a:solidFill>
              </a:rPr>
              <a:t>Conclusion</a:t>
            </a:r>
          </a:p>
        </p:txBody>
      </p:sp>
      <p:sp>
        <p:nvSpPr>
          <p:cNvPr id="42" name="TextBox 41">
            <a:extLst>
              <a:ext uri="{FF2B5EF4-FFF2-40B4-BE49-F238E27FC236}">
                <a16:creationId xmlns:a16="http://schemas.microsoft.com/office/drawing/2014/main" id="{20F117FA-D07B-BDE3-A2D9-8629AB215B50}"/>
              </a:ext>
            </a:extLst>
          </p:cNvPr>
          <p:cNvSpPr txBox="1"/>
          <p:nvPr/>
        </p:nvSpPr>
        <p:spPr>
          <a:xfrm>
            <a:off x="259080" y="731776"/>
            <a:ext cx="8471034" cy="3008772"/>
          </a:xfrm>
          <a:prstGeom prst="rect">
            <a:avLst/>
          </a:prstGeom>
          <a:noFill/>
        </p:spPr>
        <p:txBody>
          <a:bodyPr wrap="square">
            <a:spAutoFit/>
          </a:bodyPr>
          <a:lstStyle/>
          <a:p>
            <a:pPr marL="285750" indent="-285750" algn="just">
              <a:lnSpc>
                <a:spcPct val="150000"/>
              </a:lnSpc>
              <a:buClr>
                <a:schemeClr val="accent4">
                  <a:lumMod val="75000"/>
                </a:schemeClr>
              </a:buClr>
              <a:buFont typeface="Wingdings" panose="05000000000000000000" pitchFamily="2" charset="2"/>
              <a:buChar char="§"/>
            </a:pPr>
            <a:r>
              <a:rPr lang="en-IN" sz="1600" dirty="0" err="1">
                <a:solidFill>
                  <a:schemeClr val="bg1"/>
                </a:solidFill>
              </a:rPr>
              <a:t>Analyzed</a:t>
            </a:r>
            <a:r>
              <a:rPr lang="en-IN" sz="1600" dirty="0">
                <a:solidFill>
                  <a:schemeClr val="bg1"/>
                </a:solidFill>
              </a:rPr>
              <a:t> the </a:t>
            </a:r>
            <a:r>
              <a:rPr lang="en-IN" sz="1600" dirty="0" err="1">
                <a:solidFill>
                  <a:schemeClr val="bg1"/>
                </a:solidFill>
              </a:rPr>
              <a:t>AstroSage</a:t>
            </a:r>
            <a:r>
              <a:rPr lang="en-IN" sz="1600" dirty="0">
                <a:solidFill>
                  <a:schemeClr val="bg1"/>
                </a:solidFill>
              </a:rPr>
              <a:t> call </a:t>
            </a:r>
            <a:r>
              <a:rPr lang="en-IN" sz="1600" dirty="0" err="1">
                <a:solidFill>
                  <a:schemeClr val="bg1"/>
                </a:solidFill>
              </a:rPr>
              <a:t>center</a:t>
            </a:r>
            <a:r>
              <a:rPr lang="en-IN" sz="1600" dirty="0">
                <a:solidFill>
                  <a:schemeClr val="bg1"/>
                </a:solidFill>
              </a:rPr>
              <a:t> dataset using Microsoft Excel. </a:t>
            </a:r>
          </a:p>
          <a:p>
            <a:pPr marL="285750" indent="-285750" algn="just">
              <a:lnSpc>
                <a:spcPct val="150000"/>
              </a:lnSpc>
              <a:buClr>
                <a:schemeClr val="accent4">
                  <a:lumMod val="75000"/>
                </a:schemeClr>
              </a:buClr>
              <a:buFont typeface="Wingdings" panose="05000000000000000000" pitchFamily="2" charset="2"/>
              <a:buChar char="§"/>
            </a:pPr>
            <a:r>
              <a:rPr lang="en-IN" sz="1600" dirty="0">
                <a:solidFill>
                  <a:schemeClr val="bg1"/>
                </a:solidFill>
              </a:rPr>
              <a:t>Performed data cleaning, feature engineering, and interactive dashboard development. </a:t>
            </a:r>
          </a:p>
          <a:p>
            <a:pPr marL="285750" indent="-285750" algn="just">
              <a:lnSpc>
                <a:spcPct val="150000"/>
              </a:lnSpc>
              <a:buClr>
                <a:schemeClr val="accent4">
                  <a:lumMod val="75000"/>
                </a:schemeClr>
              </a:buClr>
              <a:buFont typeface="Wingdings" panose="05000000000000000000" pitchFamily="2" charset="2"/>
              <a:buChar char="§"/>
            </a:pPr>
            <a:r>
              <a:rPr lang="en-IN" sz="1600" dirty="0">
                <a:solidFill>
                  <a:schemeClr val="bg1"/>
                </a:solidFill>
              </a:rPr>
              <a:t>Evaluated call volume, revenue, customer satisfaction, and guru performance using PivotTables and charts. </a:t>
            </a:r>
          </a:p>
          <a:p>
            <a:pPr marL="285750" indent="-285750" algn="just">
              <a:lnSpc>
                <a:spcPct val="150000"/>
              </a:lnSpc>
              <a:buClr>
                <a:schemeClr val="accent4">
                  <a:lumMod val="75000"/>
                </a:schemeClr>
              </a:buClr>
              <a:buFont typeface="Wingdings" panose="05000000000000000000" pitchFamily="2" charset="2"/>
              <a:buChar char="§"/>
            </a:pPr>
            <a:r>
              <a:rPr lang="en-IN" sz="1600" dirty="0">
                <a:solidFill>
                  <a:schemeClr val="bg1"/>
                </a:solidFill>
              </a:rPr>
              <a:t>Identified key insights, including higher December call volume, voice calls as the primary revenue driver, and strong contribution from repeat users. </a:t>
            </a:r>
          </a:p>
          <a:p>
            <a:pPr marL="285750" indent="-285750" algn="just">
              <a:lnSpc>
                <a:spcPct val="150000"/>
              </a:lnSpc>
              <a:buClr>
                <a:schemeClr val="accent4">
                  <a:lumMod val="75000"/>
                </a:schemeClr>
              </a:buClr>
              <a:buFont typeface="Wingdings" panose="05000000000000000000" pitchFamily="2" charset="2"/>
              <a:buChar char="§"/>
            </a:pPr>
            <a:r>
              <a:rPr lang="en-IN" sz="1600" dirty="0">
                <a:solidFill>
                  <a:schemeClr val="bg1"/>
                </a:solidFill>
              </a:rPr>
              <a:t>Proposed data-driven recommendations to improve service quality, operational efficiency, customer satisfaction, and revenue growth..</a:t>
            </a:r>
          </a:p>
        </p:txBody>
      </p:sp>
    </p:spTree>
    <p:extLst>
      <p:ext uri="{BB962C8B-B14F-4D97-AF65-F5344CB8AC3E}">
        <p14:creationId xmlns:p14="http://schemas.microsoft.com/office/powerpoint/2010/main" val="597319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5" name="Text 3"/>
          <p:cNvSpPr/>
          <p:nvPr/>
        </p:nvSpPr>
        <p:spPr>
          <a:xfrm>
            <a:off x="502920" y="1920240"/>
            <a:ext cx="8229600" cy="914400"/>
          </a:xfrm>
          <a:prstGeom prst="rect">
            <a:avLst/>
          </a:prstGeom>
          <a:noFill/>
          <a:ln/>
        </p:spPr>
        <p:txBody>
          <a:bodyPr wrap="square" lIns="0" tIns="0" rIns="0" bIns="0" rtlCol="0" anchor="ctr"/>
          <a:lstStyle/>
          <a:p>
            <a:pPr marL="0" indent="0" algn="ctr">
              <a:buNone/>
            </a:pPr>
            <a:r>
              <a:rPr lang="en-US" sz="5400" b="1" dirty="0">
                <a:solidFill>
                  <a:srgbClr val="C9A84C"/>
                </a:solidFill>
              </a:rPr>
              <a:t>Thank You</a:t>
            </a:r>
            <a:endParaRPr lang="en-US" sz="5400" dirty="0"/>
          </a:p>
        </p:txBody>
      </p:sp>
      <p:sp>
        <p:nvSpPr>
          <p:cNvPr id="6" name="Text 4"/>
          <p:cNvSpPr/>
          <p:nvPr/>
        </p:nvSpPr>
        <p:spPr>
          <a:xfrm>
            <a:off x="502920" y="1783080"/>
            <a:ext cx="8229600" cy="457200"/>
          </a:xfrm>
          <a:prstGeom prst="rect">
            <a:avLst/>
          </a:prstGeom>
          <a:noFill/>
          <a:ln/>
        </p:spPr>
        <p:txBody>
          <a:bodyPr wrap="square" lIns="0" tIns="0" rIns="0" bIns="0" rtlCol="0" anchor="ctr"/>
          <a:lstStyle/>
          <a:p>
            <a:pPr marL="0" indent="0" algn="ctr">
              <a:buNone/>
            </a:pPr>
            <a:endParaRPr lang="en-US" sz="1800" dirty="0"/>
          </a:p>
        </p:txBody>
      </p:sp>
      <p:sp>
        <p:nvSpPr>
          <p:cNvPr id="7" name="Text 5"/>
          <p:cNvSpPr/>
          <p:nvPr/>
        </p:nvSpPr>
        <p:spPr>
          <a:xfrm>
            <a:off x="502920" y="2267712"/>
            <a:ext cx="8229600" cy="320040"/>
          </a:xfrm>
          <a:prstGeom prst="rect">
            <a:avLst/>
          </a:prstGeom>
          <a:noFill/>
          <a:ln/>
        </p:spPr>
        <p:txBody>
          <a:bodyPr wrap="square" lIns="0" tIns="0" rIns="0" bIns="0" rtlCol="0" anchor="ctr"/>
          <a:lstStyle/>
          <a:p>
            <a:pPr marL="0" indent="0" algn="ctr">
              <a:buNone/>
            </a:pPr>
            <a:endParaRPr lang="en-US" sz="1200" dirty="0"/>
          </a:p>
        </p:txBody>
      </p:sp>
      <p:sp>
        <p:nvSpPr>
          <p:cNvPr id="24" name="Text 22"/>
          <p:cNvSpPr/>
          <p:nvPr/>
        </p:nvSpPr>
        <p:spPr>
          <a:xfrm>
            <a:off x="502920" y="4480560"/>
            <a:ext cx="8229600" cy="320040"/>
          </a:xfrm>
          <a:prstGeom prst="rect">
            <a:avLst/>
          </a:prstGeom>
          <a:noFill/>
          <a:ln/>
        </p:spPr>
        <p:txBody>
          <a:bodyPr wrap="square" lIns="0" tIns="0" rIns="0" bIns="0" rtlCol="0" anchor="ctr"/>
          <a:lstStyle/>
          <a:p>
            <a:pPr marL="0" indent="0" algn="ctr">
              <a:buNone/>
            </a:pP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1241</TotalTime>
  <Words>1353</Words>
  <Application>Microsoft Office PowerPoint</Application>
  <PresentationFormat>On-screen Show (16:9)</PresentationFormat>
  <Paragraphs>189</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Consolas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AstroSage Call Centre Data Analysis</dc:title>
  <dc:subject>PptxGenJS Presentation</dc:subject>
  <dc:creator>Data Analyst Intern</dc:creator>
  <cp:lastModifiedBy>deeksha bk</cp:lastModifiedBy>
  <cp:revision>62</cp:revision>
  <dcterms:created xsi:type="dcterms:W3CDTF">2026-05-31T14:38:03Z</dcterms:created>
  <dcterms:modified xsi:type="dcterms:W3CDTF">2026-07-11T18:52:43Z</dcterms:modified>
</cp:coreProperties>
</file>